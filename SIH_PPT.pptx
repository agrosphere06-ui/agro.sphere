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7"/>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hyperlink" Target="https://diveshchinchavalkar45.github.io/Agro.sphere/" TargetMode="External"/><Relationship Id="rId6" Type="http://schemas.openxmlformats.org/officeDocument/2006/relationships/hyperlink" Target="https://github.com/diveshchinchavalkar45/Agro.sphere" TargetMode="External"/><Relationship Id="rId7" Type="http://schemas.openxmlformats.org/officeDocument/2006/relationships/hyperlink" Target="Toll-Free: 1800-889-2476  |  WhatsApp: +91 98200 4567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421723"/>
          </a:xfrm>
          <a:prstGeom prst="rect">
            <a:avLst/>
          </a:prstGeom>
          <a:noFill/>
        </p:spPr>
        <p:txBody>
          <a:bodyPr wrap="square" rtlCol="0">
            <a:spAutoFit/>
          </a:bodyPr>
          <a:lstStyle/>
          <a:p>
            <a:endParaRPr lang="en-US" dirty="0"/>
          </a:p>
          <a:p>
            <a:pPr>
              <a:spcAft>
                <a:spcPts val="400"/>
              </a:spcAft>
            </a:pPr>
            <a:r>
              <a:rPr sz="2000" b="1" dirty="0">
                <a:solidFill>
                  <a:srgbClr val="173A25"/>
                </a:solidFill>
              </a:rPr>
              <a:t>Problem Statement ID: </a:t>
            </a:r>
            <a:r>
              <a:rPr sz="2000" b="0" dirty="0">
                <a:solidFill>
                  <a:srgbClr val="2D2D2D"/>
                </a:solidFill>
              </a:rPr>
              <a:t>SIH1645 (Smart Agriculture &amp; Farm Connect)</a:t>
            </a:r>
          </a:p>
          <a:p>
            <a:pPr>
              <a:spcAft>
                <a:spcPts val="400"/>
              </a:spcAft>
            </a:pPr>
            <a:r>
              <a:rPr sz="2000" b="1" dirty="0">
                <a:solidFill>
                  <a:srgbClr val="173A25"/>
                </a:solidFill>
              </a:rPr>
              <a:t>Problem Statement Title: </a:t>
            </a:r>
            <a:r>
              <a:rPr sz="2000" b="0" dirty="0">
                <a:solidFill>
                  <a:srgbClr val="2D2D2D"/>
                </a:solidFill>
              </a:rPr>
              <a:t>AI Mandi Price Intelligence, Quality Grading &amp; Farm Logistics</a:t>
            </a:r>
          </a:p>
          <a:p>
            <a:pPr>
              <a:spcAft>
                <a:spcPts val="400"/>
              </a:spcAft>
            </a:pPr>
            <a:r>
              <a:rPr sz="2000" b="1" dirty="0">
                <a:solidFill>
                  <a:srgbClr val="173A25"/>
                </a:solidFill>
              </a:rPr>
              <a:t>Theme: </a:t>
            </a:r>
            <a:r>
              <a:rPr sz="2000" b="0" dirty="0">
                <a:solidFill>
                  <a:srgbClr val="2D2D2D"/>
                </a:solidFill>
              </a:rPr>
              <a:t>Agriculture, </a:t>
            </a:r>
            <a:r>
              <a:rPr sz="2000" b="0" dirty="0" err="1">
                <a:solidFill>
                  <a:srgbClr val="2D2D2D"/>
                </a:solidFill>
              </a:rPr>
              <a:t>FoodTech</a:t>
            </a:r>
            <a:r>
              <a:rPr sz="2000" b="0" dirty="0">
                <a:solidFill>
                  <a:srgbClr val="2D2D2D"/>
                </a:solidFill>
              </a:rPr>
              <a:t> &amp; Rural Development</a:t>
            </a:r>
          </a:p>
          <a:p>
            <a:pPr>
              <a:spcAft>
                <a:spcPts val="400"/>
              </a:spcAft>
            </a:pPr>
            <a:r>
              <a:rPr sz="2000" b="1" dirty="0">
                <a:solidFill>
                  <a:srgbClr val="173A25"/>
                </a:solidFill>
              </a:rPr>
              <a:t>PS Category: </a:t>
            </a:r>
            <a:r>
              <a:rPr sz="2000" b="0" dirty="0">
                <a:solidFill>
                  <a:srgbClr val="2D2D2D"/>
                </a:solidFill>
              </a:rPr>
              <a:t>Software</a:t>
            </a:r>
          </a:p>
          <a:p>
            <a:pPr>
              <a:spcAft>
                <a:spcPts val="400"/>
              </a:spcAft>
            </a:pPr>
            <a:r>
              <a:rPr sz="2000" b="1" dirty="0">
                <a:solidFill>
                  <a:srgbClr val="173A25"/>
                </a:solidFill>
              </a:rPr>
              <a:t>Team ID: </a:t>
            </a:r>
            <a:r>
              <a:rPr sz="2000" b="0" dirty="0">
                <a:solidFill>
                  <a:srgbClr val="2D2D2D"/>
                </a:solidFill>
              </a:rPr>
              <a:t>SIH2026-TEAM-AGRO</a:t>
            </a:r>
          </a:p>
          <a:p>
            <a:pPr>
              <a:spcAft>
                <a:spcPts val="400"/>
              </a:spcAft>
            </a:pPr>
            <a:r>
              <a:rPr sz="2000" b="1" dirty="0">
                <a:solidFill>
                  <a:srgbClr val="173A25"/>
                </a:solidFill>
              </a:rPr>
              <a:t>Team Name: </a:t>
            </a:r>
            <a:r>
              <a:rPr sz="2000" b="0" dirty="0" err="1">
                <a:solidFill>
                  <a:srgbClr val="2D2D2D"/>
                </a:solidFill>
              </a:rPr>
              <a:t>Agro</a:t>
            </a:r>
            <a:r>
              <a:rPr sz="2000" b="0" dirty="0">
                <a:solidFill>
                  <a:srgbClr val="2D2D2D"/>
                </a:solidFill>
              </a:rPr>
              <a:t>-Sphere Innovators</a:t>
            </a:r>
          </a:p>
          <a:p>
            <a:pPr>
              <a:spcAft>
                <a:spcPts val="400"/>
              </a:spcAft>
            </a:pPr>
            <a:r>
              <a:rPr sz="2000" b="1" dirty="0">
                <a:solidFill>
                  <a:srgbClr val="173A25"/>
                </a:solidFill>
              </a:rPr>
              <a:t>Project / Idea: </a:t>
            </a:r>
            <a:r>
              <a:rPr sz="2000" b="0" dirty="0" err="1">
                <a:solidFill>
                  <a:srgbClr val="2D2D2D"/>
                </a:solidFill>
              </a:rPr>
              <a:t>Agro</a:t>
            </a:r>
            <a:r>
              <a:rPr sz="2000" b="0" dirty="0">
                <a:solidFill>
                  <a:srgbClr val="2D2D2D"/>
                </a:solidFill>
              </a:rPr>
              <a:t>-Sphere (Multilingual Farmer Intelligence Platform)</a:t>
            </a:r>
          </a:p>
          <a:p>
            <a:pPr>
              <a:spcAft>
                <a:spcPts val="400"/>
              </a:spcAft>
            </a:pPr>
            <a:r>
              <a:rPr sz="2000" b="1" dirty="0">
                <a:solidFill>
                  <a:srgbClr val="173A25"/>
                </a:solidFill>
              </a:rPr>
              <a:t>Live Prototype: </a:t>
            </a:r>
            <a:r>
              <a:rPr sz="2000" b="0" dirty="0">
                <a:solidFill>
                  <a:srgbClr val="2D2D2D"/>
                </a:solidFill>
              </a:rPr>
              <a:t>https://diveshchinchavalkar45.github.io/Agro.sphere/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1100" b="1">
                <a:solidFill>
                  <a:srgbClr val="1B4D29"/>
                </a:solidFill>
              </a:defRPr>
            </a:pPr>
            <a:r>
              <a:t>Agro-Sphere</a:t>
            </a:r>
            <a:br/>
            <a:r>
              <a:t>Innovators</a:t>
            </a:r>
            <a:endParaRPr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182998" y="1150000"/>
            <a:ext cx="10972800" cy="450000"/>
          </a:xfrm>
          <a:prstGeom prst="rect">
            <a:avLst/>
          </a:prstGeom>
          <a:noFill/>
        </p:spPr>
        <p:txBody>
          <a:bodyPr wrap="square">
            <a:spAutoFit/>
          </a:bodyPr>
          <a:lstStyle/>
          <a:p>
            <a:pPr algn="ctr">
              <a:defRPr sz="1800" b="1">
                <a:solidFill>
                  <a:srgbClr val="1B4D29"/>
                </a:solidFill>
              </a:defRPr>
            </a:pPr>
            <a:r>
              <a:t>Agro-Sphere: Unified Farm-to-Market Solution Flow</a:t>
            </a:r>
          </a:p>
        </p:txBody>
      </p:sp>
      <p:sp>
        <p:nvSpPr>
          <p:cNvPr id="15363" name="Rounded Rectangle 15362"/>
          <p:cNvSpPr/>
          <p:nvPr/>
        </p:nvSpPr>
        <p:spPr>
          <a:xfrm>
            <a:off x="650000" y="1750000"/>
            <a:ext cx="1980000" cy="360000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tIns="150000" bIns="150000"/>
          <a:lstStyle/>
          <a:p>
            <a:pPr algn="ctr">
              <a:spcAft>
                <a:spcPts val="400"/>
              </a:spcAft>
              <a:defRPr sz="1000" b="1">
                <a:solidFill>
                  <a:srgbClr val="15803D"/>
                </a:solidFill>
              </a:defRPr>
            </a:pPr>
            <a:r>
              <a:t>STEP 01</a:t>
            </a:r>
          </a:p>
          <a:p>
            <a:pPr algn="ctr">
              <a:spcAft>
                <a:spcPts val="1400"/>
              </a:spcAft>
              <a:defRPr sz="1300" b="1">
                <a:solidFill>
                  <a:srgbClr val="17261A"/>
                </a:solidFill>
              </a:defRPr>
            </a:pPr>
            <a:r>
              <a:t>🎙️ Voice AI &amp; Rates</a:t>
            </a:r>
          </a:p>
          <a:p>
            <a:pPr algn="ctr">
              <a:spcAft>
                <a:spcPts val="1000"/>
              </a:spcAft>
              <a:defRPr sz="800">
                <a:solidFill>
                  <a:srgbClr val="22C55E"/>
                </a:solidFill>
              </a:defRPr>
            </a:pPr>
            <a:r>
              <a:t>───────────────</a:t>
            </a:r>
          </a:p>
          <a:p>
            <a:pPr>
              <a:lnSpc>
                <a:spcPct val="120000"/>
              </a:lnSpc>
              <a:spcAft>
                <a:spcPts val="1000"/>
              </a:spcAft>
              <a:defRPr sz="1050">
                <a:solidFill>
                  <a:srgbClr val="28372D"/>
                </a:solidFill>
              </a:defRPr>
            </a:pPr>
            <a:r>
              <a:t>• Voice input in Hindi, Marathi &amp; English for non-literate farmers</a:t>
            </a:r>
          </a:p>
          <a:p>
            <a:pPr>
              <a:lnSpc>
                <a:spcPct val="120000"/>
              </a:lnSpc>
              <a:spcAft>
                <a:spcPts val="1000"/>
              </a:spcAft>
              <a:defRPr sz="1050">
                <a:solidFill>
                  <a:srgbClr val="28372D"/>
                </a:solidFill>
              </a:defRPr>
            </a:pPr>
            <a:r>
              <a:t>• Live APMC rates &amp; 7-day predictive selling alerts</a:t>
            </a:r>
          </a:p>
        </p:txBody>
      </p:sp>
      <p:sp>
        <p:nvSpPr>
          <p:cNvPr id="15364" name="Right Arrow 15363"/>
          <p:cNvSpPr/>
          <p:nvPr/>
        </p:nvSpPr>
        <p:spPr>
          <a:xfrm>
            <a:off x="2675000" y="3410000"/>
            <a:ext cx="260000" cy="28000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Rounded Rectangle 15364"/>
          <p:cNvSpPr/>
          <p:nvPr/>
        </p:nvSpPr>
        <p:spPr>
          <a:xfrm>
            <a:off x="2980000" y="1750000"/>
            <a:ext cx="1980000" cy="3600000"/>
          </a:xfrm>
          <a:prstGeom prst="roundRect">
            <a:avLst/>
          </a:prstGeom>
          <a:solidFill>
            <a:srgbClr val="F0F9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tIns="150000" bIns="150000"/>
          <a:lstStyle/>
          <a:p>
            <a:pPr algn="ctr">
              <a:spcAft>
                <a:spcPts val="400"/>
              </a:spcAft>
              <a:defRPr sz="1000" b="1">
                <a:solidFill>
                  <a:srgbClr val="0369A1"/>
                </a:solidFill>
              </a:defRPr>
            </a:pPr>
            <a:r>
              <a:t>STEP 02</a:t>
            </a:r>
          </a:p>
          <a:p>
            <a:pPr algn="ctr">
              <a:spcAft>
                <a:spcPts val="1400"/>
              </a:spcAft>
              <a:defRPr sz="1300" b="1">
                <a:solidFill>
                  <a:srgbClr val="17261A"/>
                </a:solidFill>
              </a:defRPr>
            </a:pPr>
            <a:r>
              <a:t>⚖️ Digital Grading</a:t>
            </a:r>
          </a:p>
          <a:p>
            <a:pPr algn="ctr">
              <a:spcAft>
                <a:spcPts val="1000"/>
              </a:spcAft>
              <a:defRPr sz="800">
                <a:solidFill>
                  <a:srgbClr val="38BDF8"/>
                </a:solidFill>
              </a:defRPr>
            </a:pPr>
            <a:r>
              <a:t>───────────────</a:t>
            </a:r>
          </a:p>
          <a:p>
            <a:pPr>
              <a:lnSpc>
                <a:spcPct val="120000"/>
              </a:lnSpc>
              <a:spcAft>
                <a:spcPts val="1000"/>
              </a:spcAft>
              <a:defRPr sz="1050">
                <a:solidFill>
                  <a:srgbClr val="28372D"/>
                </a:solidFill>
              </a:defRPr>
            </a:pPr>
            <a:r>
              <a:t>• Standardized Grade A/B, size &amp; moisture specs</a:t>
            </a:r>
          </a:p>
          <a:p>
            <a:pPr>
              <a:lnSpc>
                <a:spcPct val="120000"/>
              </a:lnSpc>
              <a:spcAft>
                <a:spcPts val="1000"/>
              </a:spcAft>
              <a:defRPr sz="1050">
                <a:solidFill>
                  <a:srgbClr val="28372D"/>
                </a:solidFill>
              </a:defRPr>
            </a:pPr>
            <a:r>
              <a:t>• Emergency Zero-Waste clearance for perishables</a:t>
            </a:r>
          </a:p>
        </p:txBody>
      </p:sp>
      <p:sp>
        <p:nvSpPr>
          <p:cNvPr id="15366" name="Right Arrow 15365"/>
          <p:cNvSpPr/>
          <p:nvPr/>
        </p:nvSpPr>
        <p:spPr>
          <a:xfrm>
            <a:off x="5005000" y="3410000"/>
            <a:ext cx="260000" cy="28000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Rounded Rectangle 15366"/>
          <p:cNvSpPr/>
          <p:nvPr/>
        </p:nvSpPr>
        <p:spPr>
          <a:xfrm>
            <a:off x="5310000" y="1750000"/>
            <a:ext cx="1980000" cy="3600000"/>
          </a:xfrm>
          <a:prstGeom prst="roundRect">
            <a:avLst/>
          </a:prstGeom>
          <a:solidFill>
            <a:srgbClr val="FEFCE8"/>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tIns="150000" bIns="150000"/>
          <a:lstStyle/>
          <a:p>
            <a:pPr algn="ctr">
              <a:spcAft>
                <a:spcPts val="400"/>
              </a:spcAft>
              <a:defRPr sz="1000" b="1">
                <a:solidFill>
                  <a:srgbClr val="A16207"/>
                </a:solidFill>
              </a:defRPr>
            </a:pPr>
            <a:r>
              <a:t>STEP 03</a:t>
            </a:r>
          </a:p>
          <a:p>
            <a:pPr algn="ctr">
              <a:spcAft>
                <a:spcPts val="1400"/>
              </a:spcAft>
              <a:defRPr sz="1300" b="1">
                <a:solidFill>
                  <a:srgbClr val="17261A"/>
                </a:solidFill>
              </a:defRPr>
            </a:pPr>
            <a:r>
              <a:t>🤝 FPO Bulk Pooling</a:t>
            </a:r>
          </a:p>
          <a:p>
            <a:pPr algn="ctr">
              <a:spcAft>
                <a:spcPts val="1000"/>
              </a:spcAft>
              <a:defRPr sz="800">
                <a:solidFill>
                  <a:srgbClr val="FACC15"/>
                </a:solidFill>
              </a:defRPr>
            </a:pPr>
            <a:r>
              <a:t>───────────────</a:t>
            </a:r>
          </a:p>
          <a:p>
            <a:pPr>
              <a:lnSpc>
                <a:spcPct val="120000"/>
              </a:lnSpc>
              <a:spcAft>
                <a:spcPts val="1000"/>
              </a:spcAft>
              <a:defRPr sz="1050">
                <a:solidFill>
                  <a:srgbClr val="28372D"/>
                </a:solidFill>
              </a:defRPr>
            </a:pPr>
            <a:r>
              <a:t>• Aggregates smallholder lots into 100q+ volume</a:t>
            </a:r>
          </a:p>
          <a:p>
            <a:pPr>
              <a:lnSpc>
                <a:spcPct val="120000"/>
              </a:lnSpc>
              <a:spcAft>
                <a:spcPts val="1000"/>
              </a:spcAft>
              <a:defRPr sz="1050">
                <a:solidFill>
                  <a:srgbClr val="28372D"/>
                </a:solidFill>
              </a:defRPr>
            </a:pPr>
            <a:r>
              <a:t>• Direct contracts with institutional buyers (Reliance, etc.)</a:t>
            </a:r>
          </a:p>
        </p:txBody>
      </p:sp>
      <p:sp>
        <p:nvSpPr>
          <p:cNvPr id="15368" name="Right Arrow 15367"/>
          <p:cNvSpPr/>
          <p:nvPr/>
        </p:nvSpPr>
        <p:spPr>
          <a:xfrm>
            <a:off x="7335000" y="3410000"/>
            <a:ext cx="260000" cy="28000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9" name="Rounded Rectangle 15368"/>
          <p:cNvSpPr/>
          <p:nvPr/>
        </p:nvSpPr>
        <p:spPr>
          <a:xfrm>
            <a:off x="7640000" y="1750000"/>
            <a:ext cx="1980000" cy="3600000"/>
          </a:xfrm>
          <a:prstGeom prst="roundRect">
            <a:avLst/>
          </a:prstGeom>
          <a:solidFill>
            <a:srgbClr val="F5F3F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tIns="150000" bIns="150000"/>
          <a:lstStyle/>
          <a:p>
            <a:pPr algn="ctr">
              <a:spcAft>
                <a:spcPts val="400"/>
              </a:spcAft>
              <a:defRPr sz="1000" b="1">
                <a:solidFill>
                  <a:srgbClr val="7E22CE"/>
                </a:solidFill>
              </a:defRPr>
            </a:pPr>
            <a:r>
              <a:t>STEP 04</a:t>
            </a:r>
          </a:p>
          <a:p>
            <a:pPr algn="ctr">
              <a:spcAft>
                <a:spcPts val="1400"/>
              </a:spcAft>
              <a:defRPr sz="1300" b="1">
                <a:solidFill>
                  <a:srgbClr val="17261A"/>
                </a:solidFill>
              </a:defRPr>
            </a:pPr>
            <a:r>
              <a:t>🚚 Smart Logistics</a:t>
            </a:r>
          </a:p>
          <a:p>
            <a:pPr algn="ctr">
              <a:spcAft>
                <a:spcPts val="1000"/>
              </a:spcAft>
              <a:defRPr sz="800">
                <a:solidFill>
                  <a:srgbClr val="A855F7"/>
                </a:solidFill>
              </a:defRPr>
            </a:pPr>
            <a:r>
              <a:t>───────────────</a:t>
            </a:r>
          </a:p>
          <a:p>
            <a:pPr>
              <a:lnSpc>
                <a:spcPct val="120000"/>
              </a:lnSpc>
              <a:spcAft>
                <a:spcPts val="1000"/>
              </a:spcAft>
              <a:defRPr sz="1050">
                <a:solidFill>
                  <a:srgbClr val="28372D"/>
                </a:solidFill>
              </a:defRPr>
            </a:pPr>
            <a:r>
              <a:t>• Real-time GPS reefer truck tracking (MH-15)</a:t>
            </a:r>
          </a:p>
          <a:p>
            <a:pPr>
              <a:lnSpc>
                <a:spcPct val="120000"/>
              </a:lnSpc>
              <a:spcAft>
                <a:spcPts val="1000"/>
              </a:spcAft>
              <a:defRPr sz="1050">
                <a:solidFill>
                  <a:srgbClr val="28372D"/>
                </a:solidFill>
              </a:defRPr>
            </a:pPr>
            <a:r>
              <a:t>• Weighbridge digital slot booking &amp; driver dispatch</a:t>
            </a:r>
          </a:p>
        </p:txBody>
      </p:sp>
      <p:sp>
        <p:nvSpPr>
          <p:cNvPr id="15370" name="Right Arrow 15369"/>
          <p:cNvSpPr/>
          <p:nvPr/>
        </p:nvSpPr>
        <p:spPr>
          <a:xfrm>
            <a:off x="9665000" y="3410000"/>
            <a:ext cx="260000" cy="280000"/>
          </a:xfrm>
          <a:prstGeom prst="right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1" name="Rounded Rectangle 15370"/>
          <p:cNvSpPr/>
          <p:nvPr/>
        </p:nvSpPr>
        <p:spPr>
          <a:xfrm>
            <a:off x="9970000" y="1750000"/>
            <a:ext cx="1980000" cy="3600000"/>
          </a:xfrm>
          <a:prstGeom prst="roundRect">
            <a:avLst/>
          </a:prstGeom>
          <a:solidFill>
            <a:srgbClr val="ECFDF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20000" rIns="120000" tIns="150000" bIns="150000"/>
          <a:lstStyle/>
          <a:p>
            <a:pPr algn="ctr">
              <a:spcAft>
                <a:spcPts val="400"/>
              </a:spcAft>
              <a:defRPr sz="1000" b="1">
                <a:solidFill>
                  <a:srgbClr val="047857"/>
                </a:solidFill>
              </a:defRPr>
            </a:pPr>
            <a:r>
              <a:t>STEP 05</a:t>
            </a:r>
          </a:p>
          <a:p>
            <a:pPr algn="ctr">
              <a:spcAft>
                <a:spcPts val="1400"/>
              </a:spcAft>
              <a:defRPr sz="1300" b="1">
                <a:solidFill>
                  <a:srgbClr val="17261A"/>
                </a:solidFill>
              </a:defRPr>
            </a:pPr>
            <a:r>
              <a:t>🛡️ Escrow Payout</a:t>
            </a:r>
          </a:p>
          <a:p>
            <a:pPr algn="ctr">
              <a:spcAft>
                <a:spcPts val="1000"/>
              </a:spcAft>
              <a:defRPr sz="800">
                <a:solidFill>
                  <a:srgbClr val="10B981"/>
                </a:solidFill>
              </a:defRPr>
            </a:pPr>
            <a:r>
              <a:t>───────────────</a:t>
            </a:r>
          </a:p>
          <a:p>
            <a:pPr>
              <a:lnSpc>
                <a:spcPct val="120000"/>
              </a:lnSpc>
              <a:spcAft>
                <a:spcPts val="1000"/>
              </a:spcAft>
              <a:defRPr sz="1050">
                <a:solidFill>
                  <a:srgbClr val="28372D"/>
                </a:solidFill>
              </a:defRPr>
            </a:pPr>
            <a:r>
              <a:t>• PIN-verified weighbridge receipt &amp; audit slip</a:t>
            </a:r>
          </a:p>
          <a:p>
            <a:pPr>
              <a:lnSpc>
                <a:spcPct val="120000"/>
              </a:lnSpc>
              <a:spcAft>
                <a:spcPts val="1000"/>
              </a:spcAft>
              <a:defRPr sz="1050">
                <a:solidFill>
                  <a:srgbClr val="28372D"/>
                </a:solidFill>
              </a:defRPr>
            </a:pPr>
            <a:r>
              <a:t>• Instant digital bank credit (+18% to +25% net income)</a:t>
            </a:r>
          </a:p>
        </p:txBody>
      </p:sp>
      <p:sp>
        <p:nvSpPr>
          <p:cNvPr id="15372" name="Rounded Rectangle 15371"/>
          <p:cNvSpPr/>
          <p:nvPr/>
        </p:nvSpPr>
        <p:spPr>
          <a:xfrm>
            <a:off x="650000" y="5510000"/>
            <a:ext cx="10900000" cy="480000"/>
          </a:xfrm>
          <a:prstGeom prst="roundRect">
            <a:avLst/>
          </a:prstGeom>
          <a:solidFill>
            <a:srgbClr val="1B4D29"/>
          </a:solidFill>
          <a:ln w="1905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defRPr>
            </a:pPr>
            <a:r>
              <a:t>🎯 Outcome: Zero Middlemen Cartels  •  &gt;30% Spoilage Cut  •  +18% to +25% Net Income Realization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1100" b="1">
                <a:solidFill>
                  <a:srgbClr val="1B4D29"/>
                </a:solidFill>
              </a:defRPr>
            </a:pPr>
            <a:r>
              <a:t>Agro-Sphere</a:t>
            </a:r>
            <a:br/>
            <a:r>
              <a:t>Innovators</a:t>
            </a:r>
            <a:endParaRPr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609600" y="1050000"/>
            <a:ext cx="10972800" cy="420000"/>
          </a:xfrm>
          <a:prstGeom prst="rect">
            <a:avLst/>
          </a:prstGeom>
          <a:noFill/>
        </p:spPr>
        <p:txBody>
          <a:bodyPr wrap="square">
            <a:spAutoFit/>
          </a:bodyPr>
          <a:lstStyle/>
          <a:p>
            <a:pPr algn="ctr">
              <a:defRPr sz="1700" b="1">
                <a:solidFill>
                  <a:srgbClr val="1B4D29"/>
                </a:solidFill>
              </a:defRPr>
            </a:pPr>
            <a:r>
              <a:t>Modular 4-Tier Technical Pipeline &amp; System Execution</a:t>
            </a:r>
          </a:p>
        </p:txBody>
      </p:sp>
      <p:sp>
        <p:nvSpPr>
          <p:cNvPr id="17411" name="Rounded Rectangle 17410"/>
          <p:cNvSpPr/>
          <p:nvPr/>
        </p:nvSpPr>
        <p:spPr>
          <a:xfrm>
            <a:off x="550000" y="1580000"/>
            <a:ext cx="5400000" cy="96000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90000" bIns="70000"/>
          <a:lstStyle/>
          <a:p>
            <a:pPr algn="ctr">
              <a:spcAft>
                <a:spcPts val="400"/>
              </a:spcAft>
              <a:defRPr sz="1200" b="1">
                <a:solidFill>
                  <a:srgbClr val="15803D"/>
                </a:solidFill>
              </a:defRPr>
            </a:pPr>
            <a:r>
              <a:t>01 | Voice AI &amp; Client Interface  [FRONTEND &amp; ACCESS]</a:t>
            </a:r>
          </a:p>
          <a:p>
            <a:pPr>
              <a:spcAft>
                <a:spcPts val="300"/>
              </a:spcAft>
              <a:defRPr sz="1050">
                <a:solidFill>
                  <a:srgbClr val="1E293B"/>
                </a:solidFill>
              </a:defRPr>
            </a:pPr>
            <a:r>
              <a:t>•  Web Speech API (STT/TTS) in Hindi, Marathi &amp; English</a:t>
            </a:r>
          </a:p>
          <a:p>
            <a:pPr>
              <a:spcAft>
                <a:spcPts val="300"/>
              </a:spcAft>
              <a:defRPr sz="1050">
                <a:solidFill>
                  <a:srgbClr val="1E293B"/>
                </a:solidFill>
              </a:defRPr>
            </a:pPr>
            <a:r>
              <a:t>•  Responsive Glassmorphism PWA with 12 Indian languages</a:t>
            </a:r>
          </a:p>
        </p:txBody>
      </p:sp>
      <p:sp>
        <p:nvSpPr>
          <p:cNvPr id="17412" name="Down Arrow 17411"/>
          <p:cNvSpPr/>
          <p:nvPr/>
        </p:nvSpPr>
        <p:spPr>
          <a:xfrm>
            <a:off x="3130000" y="2565000"/>
            <a:ext cx="240000" cy="13000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Rounded Rectangle 17412"/>
          <p:cNvSpPr/>
          <p:nvPr/>
        </p:nvSpPr>
        <p:spPr>
          <a:xfrm>
            <a:off x="550000" y="2720000"/>
            <a:ext cx="5400000" cy="960000"/>
          </a:xfrm>
          <a:prstGeom prst="roundRect">
            <a:avLst/>
          </a:prstGeom>
          <a:solidFill>
            <a:srgbClr val="F0F9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90000" bIns="70000"/>
          <a:lstStyle/>
          <a:p>
            <a:pPr algn="ctr">
              <a:spcAft>
                <a:spcPts val="400"/>
              </a:spcAft>
              <a:defRPr sz="1200" b="1">
                <a:solidFill>
                  <a:srgbClr val="0369A1"/>
                </a:solidFill>
              </a:defRPr>
            </a:pPr>
            <a:r>
              <a:t>02 | AI Price &amp; Grading Engine  [INTELLIGENCE LAYER]</a:t>
            </a:r>
          </a:p>
          <a:p>
            <a:pPr>
              <a:spcAft>
                <a:spcPts val="300"/>
              </a:spcAft>
              <a:defRPr sz="1050">
                <a:solidFill>
                  <a:srgbClr val="1E293B"/>
                </a:solidFill>
              </a:defRPr>
            </a:pPr>
            <a:r>
              <a:t>•  7-Day predictive price forecasting with Agmarknet data</a:t>
            </a:r>
          </a:p>
          <a:p>
            <a:pPr>
              <a:spcAft>
                <a:spcPts val="300"/>
              </a:spcAft>
              <a:defRPr sz="1050">
                <a:solidFill>
                  <a:srgbClr val="1E293B"/>
                </a:solidFill>
              </a:defRPr>
            </a:pPr>
            <a:r>
              <a:t>•  Standardized Grade A/B specs &amp; Zero-Waste fast clearance</a:t>
            </a:r>
          </a:p>
        </p:txBody>
      </p:sp>
      <p:sp>
        <p:nvSpPr>
          <p:cNvPr id="17414" name="Down Arrow 17413"/>
          <p:cNvSpPr/>
          <p:nvPr/>
        </p:nvSpPr>
        <p:spPr>
          <a:xfrm>
            <a:off x="3130000" y="3705000"/>
            <a:ext cx="240000" cy="13000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550000" y="3860000"/>
            <a:ext cx="5400000" cy="960000"/>
          </a:xfrm>
          <a:prstGeom prst="roundRect">
            <a:avLst/>
          </a:prstGeom>
          <a:solidFill>
            <a:srgbClr val="FEFCE8"/>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90000" bIns="70000"/>
          <a:lstStyle/>
          <a:p>
            <a:pPr algn="ctr">
              <a:spcAft>
                <a:spcPts val="400"/>
              </a:spcAft>
              <a:defRPr sz="1200" b="1">
                <a:solidFill>
                  <a:srgbClr val="A16207"/>
                </a:solidFill>
              </a:defRPr>
            </a:pPr>
            <a:r>
              <a:t>03 | FPO Aggregation &amp; Fleet GPS  [LOGISTICS &amp; SCALE]</a:t>
            </a:r>
          </a:p>
          <a:p>
            <a:pPr>
              <a:spcAft>
                <a:spcPts val="300"/>
              </a:spcAft>
              <a:defRPr sz="1050">
                <a:solidFill>
                  <a:srgbClr val="1E293B"/>
                </a:solidFill>
              </a:defRPr>
            </a:pPr>
            <a:r>
              <a:t>•  Automated lot pooling into 100q+ institutional bulk volume</a:t>
            </a:r>
          </a:p>
          <a:p>
            <a:pPr>
              <a:spcAft>
                <a:spcPts val="300"/>
              </a:spcAft>
              <a:defRPr sz="1050">
                <a:solidFill>
                  <a:srgbClr val="1E293B"/>
                </a:solidFill>
              </a:defRPr>
            </a:pPr>
            <a:r>
              <a:t>•  Real-time GPS reefer truck route progression (MH-15 fleet)</a:t>
            </a:r>
          </a:p>
        </p:txBody>
      </p:sp>
      <p:sp>
        <p:nvSpPr>
          <p:cNvPr id="17416" name="Down Arrow 17415"/>
          <p:cNvSpPr/>
          <p:nvPr/>
        </p:nvSpPr>
        <p:spPr>
          <a:xfrm>
            <a:off x="3130000" y="4845000"/>
            <a:ext cx="240000" cy="130000"/>
          </a:xfrm>
          <a:prstGeom prst="downArrow">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550000" y="5000000"/>
            <a:ext cx="5400000" cy="960000"/>
          </a:xfrm>
          <a:prstGeom prst="roundRect">
            <a:avLst/>
          </a:prstGeom>
          <a:solidFill>
            <a:srgbClr val="F5F3F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90000" bIns="70000"/>
          <a:lstStyle/>
          <a:p>
            <a:pPr algn="ctr">
              <a:spcAft>
                <a:spcPts val="400"/>
              </a:spcAft>
              <a:defRPr sz="1200" b="1">
                <a:solidFill>
                  <a:srgbClr val="7E22CE"/>
                </a:solidFill>
              </a:defRPr>
            </a:pPr>
            <a:r>
              <a:t>04 | Escrow &amp; Dispute-Free Payout  [TRUST &amp; SETTLEMENT]</a:t>
            </a:r>
          </a:p>
          <a:p>
            <a:pPr>
              <a:spcAft>
                <a:spcPts val="300"/>
              </a:spcAft>
              <a:defRPr sz="1050">
                <a:solidFill>
                  <a:srgbClr val="1E293B"/>
                </a:solidFill>
              </a:defRPr>
            </a:pPr>
            <a:r>
              <a:t>•  PIN-verified digital weighbridge receipts &amp; slot booking</a:t>
            </a:r>
          </a:p>
          <a:p>
            <a:pPr>
              <a:spcAft>
                <a:spcPts val="300"/>
              </a:spcAft>
              <a:defRPr sz="1050">
                <a:solidFill>
                  <a:srgbClr val="1E293B"/>
                </a:solidFill>
              </a:defRPr>
            </a:pPr>
            <a:r>
              <a:t>•  Instant bank ledger transfer (+18% to +25% net realization)</a:t>
            </a:r>
          </a:p>
        </p:txBody>
      </p:sp>
      <p:sp>
        <p:nvSpPr>
          <p:cNvPr id="17418" name="Rounded Rectangle 17417"/>
          <p:cNvSpPr/>
          <p:nvPr/>
        </p:nvSpPr>
        <p:spPr>
          <a:xfrm>
            <a:off x="6150000" y="1550000"/>
            <a:ext cx="5510000" cy="44600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19" name="Picture 17418" descr="technical_architecture.png"/>
          <p:cNvPicPr>
            <a:picLocks noChangeAspect="1"/>
          </p:cNvPicPr>
          <p:nvPr/>
        </p:nvPicPr>
        <p:blipFill>
          <a:blip r:embed="rId6"/>
          <a:stretch>
            <a:fillRect/>
          </a:stretch>
        </p:blipFill>
        <p:spPr>
          <a:xfrm>
            <a:off x="6180000" y="1580000"/>
            <a:ext cx="5450000" cy="4400000"/>
          </a:xfrm>
          <a:prstGeom prst="rect">
            <a:avLst/>
          </a:prstGeom>
        </p:spPr>
      </p:pic>
      <p:sp>
        <p:nvSpPr>
          <p:cNvPr id="17420" name="Rounded Rectangle 17419"/>
          <p:cNvSpPr/>
          <p:nvPr/>
        </p:nvSpPr>
        <p:spPr>
          <a:xfrm>
            <a:off x="550000" y="6080000"/>
            <a:ext cx="11100000" cy="420000"/>
          </a:xfrm>
          <a:prstGeom prst="roundRect">
            <a:avLst/>
          </a:prstGeom>
          <a:solidFill>
            <a:srgbClr val="1B4D29"/>
          </a:solidFill>
          <a:ln w="1905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 Tech Stack: Python (FastAPI) • Web Speech API • SQLite • Open Agmarknet Data • Vanilla JS PWA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1100" b="1">
                <a:solidFill>
                  <a:srgbClr val="1B4D29"/>
                </a:solidFill>
              </a:defRPr>
            </a:pPr>
            <a:r>
              <a:t>Agro-Sphere</a:t>
            </a:r>
            <a:br/>
            <a:r>
              <a:t>Innovators</a:t>
            </a:r>
            <a:endParaRPr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609600" y="1000000"/>
            <a:ext cx="10972800" cy="400000"/>
          </a:xfrm>
          <a:prstGeom prst="rect">
            <a:avLst/>
          </a:prstGeom>
          <a:noFill/>
        </p:spPr>
        <p:txBody>
          <a:bodyPr wrap="square">
            <a:spAutoFit/>
          </a:bodyPr>
          <a:lstStyle/>
          <a:p>
            <a:pPr algn="ctr">
              <a:defRPr sz="1700" b="1">
                <a:solidFill>
                  <a:srgbClr val="1B4D29"/>
                </a:solidFill>
              </a:defRPr>
            </a:pPr>
            <a:r>
              <a:t>Future Scope, Scaling Roadmap &amp; 1st-Year Engineering Mentorship</a:t>
            </a:r>
          </a:p>
        </p:txBody>
      </p:sp>
      <p:sp>
        <p:nvSpPr>
          <p:cNvPr id="17411" name="Rounded Rectangle 17410"/>
          <p:cNvSpPr/>
          <p:nvPr/>
        </p:nvSpPr>
        <p:spPr>
          <a:xfrm>
            <a:off x="550000" y="1460000"/>
            <a:ext cx="11100000" cy="68000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60000" rIns="160000" tIns="70000" bIns="60000"/>
          <a:lstStyle/>
          <a:p>
            <a:pPr algn="ctr">
              <a:defRPr sz="1200" b="1">
                <a:solidFill>
                  <a:srgbClr val="15803D"/>
                </a:solidFill>
              </a:defRPr>
            </a:pPr>
            <a:r>
              <a:t>🎓 1st-Year Engineering Student Innovation &amp; Faculty Mentorship</a:t>
            </a:r>
          </a:p>
          <a:p>
            <a:pPr>
              <a:defRPr sz="1050">
                <a:solidFill>
                  <a:srgbClr val="1E293B"/>
                </a:solidFill>
              </a:defRPr>
            </a:pPr>
            <a:r>
              <a:t>As passionate 1st-year engineering students, we built this working prototype as our core foundation. To take it to production scale, we are actively taking technical guidance and advice from our College Professors, Senior Engineering Students &amp; APMC Mandi Field Officers.</a:t>
            </a:r>
          </a:p>
        </p:txBody>
      </p:sp>
      <p:sp>
        <p:nvSpPr>
          <p:cNvPr id="17412" name="Rounded Rectangle 17411"/>
          <p:cNvSpPr/>
          <p:nvPr/>
        </p:nvSpPr>
        <p:spPr>
          <a:xfrm>
            <a:off x="550000" y="2240000"/>
            <a:ext cx="6800000" cy="640000"/>
          </a:xfrm>
          <a:prstGeom prst="roundRect">
            <a:avLst/>
          </a:prstGeom>
          <a:solidFill>
            <a:srgbClr val="1B4D29"/>
          </a:solidFill>
          <a:ln w="1905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FFFFFF"/>
                </a:solidFill>
              </a:defRPr>
            </a:pPr>
            <a:r>
              <a:t>🌳 AGRO-SPHERE FUTURE ENHANCEMENT TREE</a:t>
            </a:r>
          </a:p>
          <a:p>
            <a:pPr algn="ctr">
              <a:defRPr sz="1000">
                <a:solidFill>
                  <a:srgbClr val="D9F99D"/>
                </a:solidFill>
              </a:defRPr>
            </a:pPr>
            <a:r>
              <a:t>What Better Can We Do? • Estimated Timelines • Academic Collaboration</a:t>
            </a:r>
          </a:p>
        </p:txBody>
      </p:sp>
      <p:sp>
        <p:nvSpPr>
          <p:cNvPr id="17413" name="Rectangle 17412"/>
          <p:cNvSpPr/>
          <p:nvPr/>
        </p:nvSpPr>
        <p:spPr>
          <a:xfrm>
            <a:off x="710000" y="2880000"/>
            <a:ext cx="40000" cy="6000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ectangle 17413"/>
          <p:cNvSpPr/>
          <p:nvPr/>
        </p:nvSpPr>
        <p:spPr>
          <a:xfrm>
            <a:off x="710000" y="3460000"/>
            <a:ext cx="240000" cy="400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950000" y="3020000"/>
            <a:ext cx="6400000" cy="920000"/>
          </a:xfrm>
          <a:prstGeom prst="roundRect">
            <a:avLst/>
          </a:prstGeom>
          <a:solidFill>
            <a:srgbClr val="F0F9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70000" bIns="60000"/>
          <a:lstStyle/>
          <a:p>
            <a:pPr algn="ctr">
              <a:spcAft>
                <a:spcPts val="300"/>
              </a:spcAft>
              <a:defRPr sz="1150" b="1">
                <a:solidFill>
                  <a:srgbClr val="0369A1"/>
                </a:solidFill>
              </a:defRPr>
            </a:pPr>
            <a:r>
              <a:t>🌿 Branch 1: On-Device Computer Vision AI   [⏱️ Estimated Time: 3 – 4 Months]</a:t>
            </a:r>
          </a:p>
          <a:p>
            <a:pPr>
              <a:spcAft>
                <a:spcPts val="200"/>
              </a:spcAft>
              <a:defRPr sz="950">
                <a:solidFill>
                  <a:srgbClr val="1E293B"/>
                </a:solidFill>
              </a:defRPr>
            </a:pPr>
            <a:r>
              <a:t>• Smartphone camera scanning for automated crop defect &amp; rot detection</a:t>
            </a:r>
          </a:p>
          <a:p>
            <a:pPr>
              <a:spcAft>
                <a:spcPts val="200"/>
              </a:spcAft>
              <a:defRPr sz="950">
                <a:solidFill>
                  <a:srgbClr val="1E293B"/>
                </a:solidFill>
              </a:defRPr>
            </a:pPr>
            <a:r>
              <a:t>• Real-time sizing (mm), moisture estimation &amp; Grade A/B scoring</a:t>
            </a:r>
          </a:p>
          <a:p>
            <a:pPr>
              <a:spcAft>
                <a:spcPts val="200"/>
              </a:spcAft>
              <a:defRPr sz="950">
                <a:solidFill>
                  <a:srgbClr val="1E293B"/>
                </a:solidFill>
              </a:defRPr>
            </a:pPr>
            <a:r>
              <a:t>• Lightweight Edge-ML models that run offline in low-connectivity fields</a:t>
            </a:r>
          </a:p>
        </p:txBody>
      </p:sp>
      <p:sp>
        <p:nvSpPr>
          <p:cNvPr id="17416" name="Rectangle 17415"/>
          <p:cNvSpPr/>
          <p:nvPr/>
        </p:nvSpPr>
        <p:spPr>
          <a:xfrm>
            <a:off x="710000" y="2880000"/>
            <a:ext cx="40000" cy="16600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ectangle 17416"/>
          <p:cNvSpPr/>
          <p:nvPr/>
        </p:nvSpPr>
        <p:spPr>
          <a:xfrm>
            <a:off x="710000" y="4520000"/>
            <a:ext cx="240000" cy="400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950000" y="4080000"/>
            <a:ext cx="6400000" cy="920000"/>
          </a:xfrm>
          <a:prstGeom prst="roundRect">
            <a:avLst/>
          </a:prstGeom>
          <a:solidFill>
            <a:srgbClr val="FEFCE8"/>
          </a:solidFill>
          <a:ln w="19050">
            <a:solidFill>
              <a:srgbClr val="FAC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70000" bIns="60000"/>
          <a:lstStyle/>
          <a:p>
            <a:pPr algn="ctr">
              <a:spcAft>
                <a:spcPts val="300"/>
              </a:spcAft>
              <a:defRPr sz="1150" b="1">
                <a:solidFill>
                  <a:srgbClr val="A16207"/>
                </a:solidFill>
              </a:defRPr>
            </a:pPr>
            <a:r>
              <a:t>🌿 Branch 2: IoT Cold-Chain &amp; Weighbridge Automation   [⏱️ Estimated Time: 2 – 3 Months]</a:t>
            </a:r>
          </a:p>
          <a:p>
            <a:pPr>
              <a:spcAft>
                <a:spcPts val="200"/>
              </a:spcAft>
              <a:defRPr sz="950">
                <a:solidFill>
                  <a:srgbClr val="1E293B"/>
                </a:solidFill>
              </a:defRPr>
            </a:pPr>
            <a:r>
              <a:t>• IoT wireless sensors inside reefer trucks (temperature/humidity tracking)</a:t>
            </a:r>
          </a:p>
          <a:p>
            <a:pPr>
              <a:spcAft>
                <a:spcPts val="200"/>
              </a:spcAft>
              <a:defRPr sz="950">
                <a:solidFill>
                  <a:srgbClr val="1E293B"/>
                </a:solidFill>
              </a:defRPr>
            </a:pPr>
            <a:r>
              <a:t>• Automated RFID electronic weighbridge integration for instant gross-tare weighing</a:t>
            </a:r>
          </a:p>
          <a:p>
            <a:pPr>
              <a:spcAft>
                <a:spcPts val="200"/>
              </a:spcAft>
              <a:defRPr sz="950">
                <a:solidFill>
                  <a:srgbClr val="1E293B"/>
                </a:solidFill>
              </a:defRPr>
            </a:pPr>
            <a:r>
              <a:t>• Eliminates mandi weighbridge queues and prevents weight dispute fraud</a:t>
            </a:r>
          </a:p>
        </p:txBody>
      </p:sp>
      <p:sp>
        <p:nvSpPr>
          <p:cNvPr id="17419" name="Rectangle 17418"/>
          <p:cNvSpPr/>
          <p:nvPr/>
        </p:nvSpPr>
        <p:spPr>
          <a:xfrm>
            <a:off x="710000" y="2880000"/>
            <a:ext cx="40000" cy="27200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ectangle 17419"/>
          <p:cNvSpPr/>
          <p:nvPr/>
        </p:nvSpPr>
        <p:spPr>
          <a:xfrm>
            <a:off x="710000" y="5580000"/>
            <a:ext cx="240000" cy="4000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950000" y="5140000"/>
            <a:ext cx="6400000" cy="920000"/>
          </a:xfrm>
          <a:prstGeom prst="roundRect">
            <a:avLst/>
          </a:prstGeom>
          <a:solidFill>
            <a:srgbClr val="F5F3FF"/>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70000" bIns="60000"/>
          <a:lstStyle/>
          <a:p>
            <a:pPr algn="ctr">
              <a:spcAft>
                <a:spcPts val="300"/>
              </a:spcAft>
              <a:defRPr sz="1150" b="1">
                <a:solidFill>
                  <a:srgbClr val="7E22CE"/>
                </a:solidFill>
              </a:defRPr>
            </a:pPr>
            <a:r>
              <a:t>🌿 Branch 3: Mentorship, Pilot Trials &amp; Scaled Ecosystem   [⏱️ Estimated Time: 4 – 6 Months]</a:t>
            </a:r>
          </a:p>
          <a:p>
            <a:pPr>
              <a:spcAft>
                <a:spcPts val="200"/>
              </a:spcAft>
              <a:defRPr sz="950">
                <a:solidFill>
                  <a:srgbClr val="1E293B"/>
                </a:solidFill>
              </a:defRPr>
            </a:pPr>
            <a:r>
              <a:t>• Weekly advisory with Professors &amp; Seniors on model tuning &amp; database scaling</a:t>
            </a:r>
          </a:p>
          <a:p>
            <a:pPr>
              <a:spcAft>
                <a:spcPts val="200"/>
              </a:spcAft>
              <a:defRPr sz="950">
                <a:solidFill>
                  <a:srgbClr val="1E293B"/>
                </a:solidFill>
              </a:defRPr>
            </a:pPr>
            <a:r>
              <a:t>• Live on-ground farmer pilots at Lasalgaon APMC with local FPO leaders</a:t>
            </a:r>
          </a:p>
          <a:p>
            <a:pPr>
              <a:spcAft>
                <a:spcPts val="200"/>
              </a:spcAft>
              <a:defRPr sz="950">
                <a:solidFill>
                  <a:srgbClr val="1E293B"/>
                </a:solidFill>
              </a:defRPr>
            </a:pPr>
            <a:r>
              <a:t>• Integration with e-NAM (National Agriculture Market) and UPI 2.0 Escrow</a:t>
            </a:r>
          </a:p>
        </p:txBody>
      </p:sp>
      <p:sp>
        <p:nvSpPr>
          <p:cNvPr id="17422" name="Rounded Rectangle 17421"/>
          <p:cNvSpPr/>
          <p:nvPr/>
        </p:nvSpPr>
        <p:spPr>
          <a:xfrm>
            <a:off x="7500000" y="2240000"/>
            <a:ext cx="4150000" cy="3980000"/>
          </a:xfrm>
          <a:prstGeom prst="round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23" name="Picture 17422" descr="future_ai_vision.jpg"/>
          <p:cNvPicPr>
            <a:picLocks noChangeAspect="1"/>
          </p:cNvPicPr>
          <p:nvPr/>
        </p:nvPicPr>
        <p:blipFill>
          <a:blip r:embed="rId4"/>
          <a:stretch>
            <a:fillRect/>
          </a:stretch>
        </p:blipFill>
        <p:spPr>
          <a:xfrm>
            <a:off x="7560000" y="2300000"/>
            <a:ext cx="4030000" cy="3200000"/>
          </a:xfrm>
          <a:prstGeom prst="rect">
            <a:avLst/>
          </a:prstGeom>
        </p:spPr>
      </p:pic>
      <p:sp>
        <p:nvSpPr>
          <p:cNvPr id="17424" name="Rounded Rectangle 17423"/>
          <p:cNvSpPr/>
          <p:nvPr/>
        </p:nvSpPr>
        <p:spPr>
          <a:xfrm>
            <a:off x="7560000" y="5520000"/>
            <a:ext cx="4030000" cy="640000"/>
          </a:xfrm>
          <a:prstGeom prst="roundRect">
            <a:avLst/>
          </a:prstGeom>
          <a:solidFill>
            <a:srgbClr val="1B4D29"/>
          </a:solidFill>
          <a:ln w="127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wrap="square" lIns="80000" rIns="80000" tIns="50000" bIns="40000"/>
          <a:lstStyle/>
          <a:p>
            <a:pPr algn="ctr">
              <a:defRPr sz="1100" b="1">
                <a:solidFill>
                  <a:srgbClr val="FFFFFF"/>
                </a:solidFill>
              </a:defRPr>
            </a:pPr>
            <a:r>
              <a:t>📸 Upcoming Feature: Mobile Vision AI (YOLOv8)</a:t>
            </a:r>
          </a:p>
          <a:p>
            <a:pPr algn="ctr">
              <a:defRPr sz="850">
                <a:solidFill>
                  <a:srgbClr val="D9F99D"/>
                </a:solidFill>
              </a:defRPr>
            </a:pPr>
            <a:r>
              <a:t>Instant phone camera grading: 98% quality check, size (50mm) &amp; zero defect verification</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1100" b="1">
                <a:solidFill>
                  <a:srgbClr val="1B4D29"/>
                </a:solidFill>
              </a:defRPr>
            </a:pPr>
            <a:r>
              <a:t>Agro-Sphere</a:t>
            </a:r>
            <a:br/>
            <a:r>
              <a:t>Innovators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609600" y="1000000"/>
            <a:ext cx="10972800" cy="400000"/>
          </a:xfrm>
          <a:prstGeom prst="rect">
            <a:avLst/>
          </a:prstGeom>
          <a:noFill/>
        </p:spPr>
        <p:txBody>
          <a:bodyPr wrap="square">
            <a:spAutoFit/>
          </a:bodyPr>
          <a:lstStyle/>
          <a:p>
            <a:pPr algn="ctr">
              <a:defRPr sz="1650" b="1">
                <a:solidFill>
                  <a:srgbClr val="1B4D29"/>
                </a:solidFill>
              </a:defRPr>
            </a:pPr>
            <a:r>
              <a:t>Quantifiable Direct Gains, Macro Societal Value &amp; Sustainable Revenue Model</a:t>
            </a:r>
          </a:p>
        </p:txBody>
      </p:sp>
      <p:sp>
        <p:nvSpPr>
          <p:cNvPr id="17411" name="Rounded Rectangle 17410"/>
          <p:cNvSpPr/>
          <p:nvPr/>
        </p:nvSpPr>
        <p:spPr>
          <a:xfrm>
            <a:off x="550000" y="1450000"/>
            <a:ext cx="5450000" cy="345000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60000" rIns="160000" tIns="120000" bIns="100000"/>
          <a:lstStyle/>
          <a:p>
            <a:pPr algn="ctr">
              <a:spcAft>
                <a:spcPts val="200"/>
              </a:spcAft>
              <a:defRPr sz="1300" b="1">
                <a:solidFill>
                  <a:srgbClr val="15803D"/>
                </a:solidFill>
              </a:defRPr>
            </a:pPr>
            <a:r>
              <a:t>📊 1. MEASURABLE BENEFITS (Direct Project Gains)</a:t>
            </a:r>
          </a:p>
          <a:p>
            <a:pPr>
              <a:spcAft>
                <a:spcPts val="600"/>
              </a:spcAft>
              <a:defRPr sz="950">
                <a:solidFill>
                  <a:srgbClr val="4B5563"/>
                </a:solidFill>
              </a:defRPr>
            </a:pPr>
            <a:r>
              <a:t>Direct, positive &amp; quantifiable results delivered to farmers &amp; buyers:</a:t>
            </a:r>
          </a:p>
          <a:p>
            <a:pPr>
              <a:defRPr sz="1050" b="1">
                <a:solidFill>
                  <a:srgbClr val="111827"/>
                </a:solidFill>
              </a:defRPr>
            </a:pPr>
            <a:r>
              <a:t>• 💰 +18% to +25% Higher Net Income Realization</a:t>
            </a:r>
          </a:p>
          <a:p>
            <a:pPr>
              <a:spcAft>
                <a:spcPts val="400"/>
              </a:spcAft>
              <a:defRPr sz="950">
                <a:solidFill>
                  <a:srgbClr val="374151"/>
                </a:solidFill>
              </a:defRPr>
            </a:pPr>
            <a:r>
              <a:t>   ↳ Bypasses 15–20% middleman cartel commissions with direct modal rate discovery.</a:t>
            </a:r>
          </a:p>
          <a:p>
            <a:pPr>
              <a:defRPr sz="1050" b="1">
                <a:solidFill>
                  <a:srgbClr val="111827"/>
                </a:solidFill>
              </a:defRPr>
            </a:pPr>
            <a:r>
              <a:t>• 📉 &gt;30% Cut in Perishable Post-Harvest Spoilage</a:t>
            </a:r>
          </a:p>
          <a:p>
            <a:pPr>
              <a:spcAft>
                <a:spcPts val="400"/>
              </a:spcAft>
              <a:defRPr sz="950">
                <a:solidFill>
                  <a:srgbClr val="374151"/>
                </a:solidFill>
              </a:defRPr>
            </a:pPr>
            <a:r>
              <a:t>   ↳ Emergency Zero-Waste fast-clearance channel offloads ripe lots before rotting.</a:t>
            </a:r>
          </a:p>
          <a:p>
            <a:pPr>
              <a:defRPr sz="1050" b="1">
                <a:solidFill>
                  <a:srgbClr val="111827"/>
                </a:solidFill>
              </a:defRPr>
            </a:pPr>
            <a:r>
              <a:t>• 🚚 35% Freight &amp; Logistics Cost Reduction</a:t>
            </a:r>
          </a:p>
          <a:p>
            <a:pPr>
              <a:spcAft>
                <a:spcPts val="400"/>
              </a:spcAft>
              <a:defRPr sz="950">
                <a:solidFill>
                  <a:srgbClr val="374151"/>
                </a:solidFill>
              </a:defRPr>
            </a:pPr>
            <a:r>
              <a:t>   ↳ FPO bulk pooling consolidates smallholder lots into full 100q+ truckloads.</a:t>
            </a:r>
          </a:p>
          <a:p>
            <a:pPr>
              <a:defRPr sz="1050" b="1">
                <a:solidFill>
                  <a:srgbClr val="111827"/>
                </a:solidFill>
              </a:defRPr>
            </a:pPr>
            <a:r>
              <a:t>• ⏱️ 60% Reduction in Mandi Yard Waiting Time</a:t>
            </a:r>
          </a:p>
          <a:p>
            <a:pPr>
              <a:spcAft>
                <a:spcPts val="400"/>
              </a:spcAft>
              <a:defRPr sz="950">
                <a:solidFill>
                  <a:srgbClr val="374151"/>
                </a:solidFill>
              </a:defRPr>
            </a:pPr>
            <a:r>
              <a:t>   ↳ Automated digital weighbridge slot reservation eliminates 2-3 day vehicle queues.</a:t>
            </a:r>
          </a:p>
          <a:p>
            <a:pPr>
              <a:defRPr sz="1050" b="1">
                <a:solidFill>
                  <a:srgbClr val="111827"/>
                </a:solidFill>
              </a:defRPr>
            </a:pPr>
            <a:r>
              <a:t>• 🛡️ 100% Escrow Payment Security</a:t>
            </a:r>
          </a:p>
          <a:p>
            <a:pPr>
              <a:spcAft>
                <a:spcPts val="400"/>
              </a:spcAft>
              <a:defRPr sz="950">
                <a:solidFill>
                  <a:srgbClr val="374151"/>
                </a:solidFill>
              </a:defRPr>
            </a:pPr>
            <a:r>
              <a:t>   ↳ Instant digital bank credit upon verified weighbridge receipt; zero payment default.</a:t>
            </a:r>
          </a:p>
        </p:txBody>
      </p:sp>
      <p:sp>
        <p:nvSpPr>
          <p:cNvPr id="17412" name="Rounded Rectangle 17411"/>
          <p:cNvSpPr/>
          <p:nvPr/>
        </p:nvSpPr>
        <p:spPr>
          <a:xfrm>
            <a:off x="6200000" y="1450000"/>
            <a:ext cx="5450000" cy="3450000"/>
          </a:xfrm>
          <a:prstGeom prst="roundRect">
            <a:avLst/>
          </a:prstGeom>
          <a:solidFill>
            <a:srgbClr val="EFF6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0000" rIns="160000" tIns="120000" bIns="100000"/>
          <a:lstStyle/>
          <a:p>
            <a:pPr algn="ctr">
              <a:spcAft>
                <a:spcPts val="200"/>
              </a:spcAft>
              <a:defRPr sz="1300" b="1">
                <a:solidFill>
                  <a:srgbClr val="0369A1"/>
                </a:solidFill>
              </a:defRPr>
            </a:pPr>
            <a:r>
              <a:t>🌍 2. BROADER IMPACT (Lasting Societal Value)</a:t>
            </a:r>
          </a:p>
          <a:p>
            <a:pPr>
              <a:spcAft>
                <a:spcPts val="600"/>
              </a:spcAft>
              <a:defRPr sz="950">
                <a:solidFill>
                  <a:srgbClr val="4B5563"/>
                </a:solidFill>
              </a:defRPr>
            </a:pPr>
            <a:r>
              <a:t>Long-term macroeconomic, community &amp; sustainable transformation:</a:t>
            </a:r>
          </a:p>
          <a:p>
            <a:pPr>
              <a:defRPr sz="1050" b="1">
                <a:solidFill>
                  <a:srgbClr val="111827"/>
                </a:solidFill>
              </a:defRPr>
            </a:pPr>
            <a:r>
              <a:t>• 🌾 Smallholder Economic Empowerment &amp; De-Risking</a:t>
            </a:r>
          </a:p>
          <a:p>
            <a:pPr>
              <a:spcAft>
                <a:spcPts val="400"/>
              </a:spcAft>
              <a:defRPr sz="950">
                <a:solidFill>
                  <a:srgbClr val="374151"/>
                </a:solidFill>
              </a:defRPr>
            </a:pPr>
            <a:r>
              <a:t>   ↳ Elevates marginalized kisans (86% of Indian agriculture) &amp; curbs distress rural debt.</a:t>
            </a:r>
          </a:p>
          <a:p>
            <a:pPr>
              <a:defRPr sz="1050" b="1">
                <a:solidFill>
                  <a:srgbClr val="111827"/>
                </a:solidFill>
              </a:defRPr>
            </a:pPr>
            <a:r>
              <a:t>• 🤝 Institutional Scale for Farmer Collectives (FPOs)</a:t>
            </a:r>
          </a:p>
          <a:p>
            <a:pPr>
              <a:spcAft>
                <a:spcPts val="400"/>
              </a:spcAft>
              <a:defRPr sz="950">
                <a:solidFill>
                  <a:srgbClr val="374151"/>
                </a:solidFill>
              </a:defRPr>
            </a:pPr>
            <a:r>
              <a:t>   ↳ Transforms fragmented farmers into organized rural enterprises with bulk market power.</a:t>
            </a:r>
          </a:p>
          <a:p>
            <a:pPr>
              <a:defRPr sz="1050" b="1">
                <a:solidFill>
                  <a:srgbClr val="111827"/>
                </a:solidFill>
              </a:defRPr>
            </a:pPr>
            <a:r>
              <a:t>• 🥗 National Food Security &amp; Reduced Landfill Waste</a:t>
            </a:r>
          </a:p>
          <a:p>
            <a:pPr>
              <a:spcAft>
                <a:spcPts val="400"/>
              </a:spcAft>
              <a:defRPr sz="950">
                <a:solidFill>
                  <a:srgbClr val="374151"/>
                </a:solidFill>
              </a:defRPr>
            </a:pPr>
            <a:r>
              <a:t>   ↳ Diverts thousands of tons of high-nutrition fruits &amp; vegetables into the retail food chain.</a:t>
            </a:r>
          </a:p>
          <a:p>
            <a:pPr>
              <a:defRPr sz="1050" b="1">
                <a:solidFill>
                  <a:srgbClr val="111827"/>
                </a:solidFill>
              </a:defRPr>
            </a:pPr>
            <a:r>
              <a:t>• 🌐 Digital Inclusion for Non-Literate Farmers</a:t>
            </a:r>
          </a:p>
          <a:p>
            <a:pPr>
              <a:spcAft>
                <a:spcPts val="400"/>
              </a:spcAft>
              <a:defRPr sz="950">
                <a:solidFill>
                  <a:srgbClr val="374151"/>
                </a:solidFill>
              </a:defRPr>
            </a:pPr>
            <a:r>
              <a:t>   ↳ Voice-first vernacular AI (Hindi/Marathi) democratizes technology for elderly kisans.</a:t>
            </a:r>
          </a:p>
          <a:p>
            <a:pPr>
              <a:defRPr sz="1050" b="1">
                <a:solidFill>
                  <a:srgbClr val="111827"/>
                </a:solidFill>
              </a:defRPr>
            </a:pPr>
            <a:r>
              <a:t>• 📈 Transparent Market Governance &amp; Policy Audits</a:t>
            </a:r>
          </a:p>
          <a:p>
            <a:pPr>
              <a:spcAft>
                <a:spcPts val="400"/>
              </a:spcAft>
              <a:defRPr sz="950">
                <a:solidFill>
                  <a:srgbClr val="374151"/>
                </a:solidFill>
              </a:defRPr>
            </a:pPr>
            <a:r>
              <a:t>   ↳ Provides verified trade data trails for government MSP tracking and fair crop insurance.</a:t>
            </a:r>
          </a:p>
        </p:txBody>
      </p:sp>
      <p:sp>
        <p:nvSpPr>
          <p:cNvPr id="17413" name="Rounded Rectangle 17412"/>
          <p:cNvSpPr/>
          <p:nvPr/>
        </p:nvSpPr>
        <p:spPr>
          <a:xfrm>
            <a:off x="550000" y="4990000"/>
            <a:ext cx="11100000" cy="1080000"/>
          </a:xfrm>
          <a:prstGeom prst="roundRect">
            <a:avLst/>
          </a:prstGeom>
          <a:solidFill>
            <a:srgbClr val="FEFCE8"/>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lIns="160000" rIns="160000" tIns="70000" bIns="60000"/>
          <a:lstStyle/>
          <a:p>
            <a:pPr algn="ctr">
              <a:spcAft>
                <a:spcPts val="300"/>
              </a:spcAft>
              <a:defRPr sz="1200" b="1">
                <a:solidFill>
                  <a:srgbClr val="A16207"/>
                </a:solidFill>
              </a:defRPr>
            </a:pPr>
            <a:r>
              <a:t>💼 REVENUE MODEL: HOW AGRO-SPHERE GENERATES SUSTAINABLE INCOME</a:t>
            </a:r>
          </a:p>
          <a:p>
            <a:pPr>
              <a:spcAft>
                <a:spcPts val="200"/>
              </a:spcAft>
              <a:defRPr sz="950">
                <a:solidFill>
                  <a:srgbClr val="28322D"/>
                </a:solidFill>
              </a:defRPr>
            </a:pPr>
            <a:r>
              <a:t>• 1. 100% Free for Farmers (0% Commission): Kisans keep 100% of their earnings — zero fee to maximize grassroots trust and rapid village adoption.</a:t>
            </a:r>
          </a:p>
          <a:p>
            <a:pPr>
              <a:spcAft>
                <a:spcPts val="200"/>
              </a:spcAft>
              <a:defRPr sz="950">
                <a:solidFill>
                  <a:srgbClr val="28322D"/>
                </a:solidFill>
              </a:defRPr>
            </a:pPr>
            <a:r>
              <a:t>• 2. 0.5% – 1.0% Institutional Buyer Fee: Charged to corporate buyers (Reliance, BigBasket, ITC) per closed bulk contract (far lower than traditional 6–8% APMC agent cuts).</a:t>
            </a:r>
          </a:p>
          <a:p>
            <a:pPr>
              <a:spcAft>
                <a:spcPts val="200"/>
              </a:spcAft>
              <a:defRPr sz="950">
                <a:solidFill>
                  <a:srgbClr val="28322D"/>
                </a:solidFill>
              </a:defRPr>
            </a:pPr>
            <a:r>
              <a:t>• 3. Logistics Micro-Margin &amp; Mandi SaaS: Value-added margin on partnered reefer freight dispatch + premium enterprise supply forecasting dashboards for export aggregators.</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defRPr sz="2800" b="1"/>
            </a:pPr>
            <a:r>
              <a:t>RESEARCH, REFERENCES &amp; TECH CITATIONS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defRPr sz="1100" b="1">
                <a:solidFill>
                  <a:srgbClr val="1B4D29"/>
                </a:solidFill>
              </a:defRPr>
            </a:pPr>
            <a:r>
              <a:t>Agro-Sphere</a:t>
            </a:r>
            <a:br/>
            <a:r>
              <a:t>Innovators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609600" y="960000"/>
            <a:ext cx="10972800" cy="400000"/>
          </a:xfrm>
          <a:prstGeom prst="rect">
            <a:avLst/>
          </a:prstGeom>
          <a:noFill/>
        </p:spPr>
        <p:txBody>
          <a:bodyPr wrap="square">
            <a:spAutoFit/>
          </a:bodyPr>
          <a:lstStyle/>
          <a:p>
            <a:pPr algn="ctr">
              <a:defRPr sz="1550" b="1">
                <a:solidFill>
                  <a:srgbClr val="1B4D29"/>
                </a:solidFill>
              </a:defRPr>
            </a:pPr>
            <a:r>
              <a:t>Scientific Grounding, Generative AI &amp; API Foundations, Live Prototype &amp; Q&amp;A</a:t>
            </a:r>
          </a:p>
        </p:txBody>
      </p:sp>
      <p:sp>
        <p:nvSpPr>
          <p:cNvPr id="17411" name="Rounded Rectangle 17410"/>
          <p:cNvSpPr/>
          <p:nvPr/>
        </p:nvSpPr>
        <p:spPr>
          <a:xfrm>
            <a:off x="550000" y="1400000"/>
            <a:ext cx="5450000" cy="215000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90000" bIns="80000"/>
          <a:lstStyle/>
          <a:p>
            <a:pPr algn="ctr">
              <a:spcAft>
                <a:spcPts val="400"/>
              </a:spcAft>
              <a:defRPr sz="1200" b="1">
                <a:solidFill>
                  <a:srgbClr val="15803D"/>
                </a:solidFill>
              </a:defRPr>
            </a:pPr>
            <a:r>
              <a:t>🏛️ 1. GOVERNMENT DATA &amp; POLICY GROUNDING</a:t>
            </a:r>
          </a:p>
          <a:p>
            <a:pPr>
              <a:defRPr sz="950" b="1">
                <a:solidFill>
                  <a:srgbClr val="111827"/>
                </a:solidFill>
              </a:defRPr>
            </a:pPr>
            <a:r>
              <a:t>• Agmarknet (Ministry of Agriculture)</a:t>
            </a:r>
          </a:p>
          <a:p>
            <a:pPr>
              <a:spcAft>
                <a:spcPts val="300"/>
              </a:spcAft>
              <a:defRPr sz="850">
                <a:solidFill>
                  <a:srgbClr val="374151"/>
                </a:solidFill>
              </a:defRPr>
            </a:pPr>
            <a:r>
              <a:t>   ↳ Real-time modal price feeds, APMC trading data &amp; mandi volume benchmarks for Lasalgaon, Nashik &amp; Pune.</a:t>
            </a:r>
          </a:p>
          <a:p>
            <a:pPr>
              <a:defRPr sz="950" b="1">
                <a:solidFill>
                  <a:srgbClr val="111827"/>
                </a:solidFill>
              </a:defRPr>
            </a:pPr>
            <a:r>
              <a:t>• APEDA &amp; Bureau of Indian Standards (BIS)</a:t>
            </a:r>
          </a:p>
          <a:p>
            <a:pPr>
              <a:spcAft>
                <a:spcPts val="300"/>
              </a:spcAft>
              <a:defRPr sz="850">
                <a:solidFill>
                  <a:srgbClr val="374151"/>
                </a:solidFill>
              </a:defRPr>
            </a:pPr>
            <a:r>
              <a:t>   ↳ Standardized export quality grading specs for onion, tomato &amp; citrus (Grade A/B, size mm, zero chemical residue).</a:t>
            </a:r>
          </a:p>
          <a:p>
            <a:pPr>
              <a:defRPr sz="950" b="1">
                <a:solidFill>
                  <a:srgbClr val="111827"/>
                </a:solidFill>
              </a:defRPr>
            </a:pPr>
            <a:r>
              <a:t>• NITI Aayog &amp; CIPHET Research</a:t>
            </a:r>
          </a:p>
          <a:p>
            <a:pPr>
              <a:spcAft>
                <a:spcPts val="300"/>
              </a:spcAft>
              <a:defRPr sz="850">
                <a:solidFill>
                  <a:srgbClr val="374151"/>
                </a:solidFill>
              </a:defRPr>
            </a:pPr>
            <a:r>
              <a:t>   ↳ Grounded in Strategy for Doubling Farmers' Income &amp; studies on 15–20% post-harvest cold chain wastage reduction.</a:t>
            </a:r>
          </a:p>
        </p:txBody>
      </p:sp>
      <p:sp>
        <p:nvSpPr>
          <p:cNvPr id="17412" name="Rounded Rectangle 17411"/>
          <p:cNvSpPr/>
          <p:nvPr/>
        </p:nvSpPr>
        <p:spPr>
          <a:xfrm>
            <a:off x="6200000" y="1400000"/>
            <a:ext cx="5450000" cy="2150000"/>
          </a:xfrm>
          <a:prstGeom prst="roundRect">
            <a:avLst/>
          </a:prstGeom>
          <a:solidFill>
            <a:srgbClr val="EFF6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90000" bIns="80000"/>
          <a:lstStyle/>
          <a:p>
            <a:pPr algn="ctr">
              <a:spcAft>
                <a:spcPts val="400"/>
              </a:spcAft>
              <a:defRPr sz="1200" b="1">
                <a:solidFill>
                  <a:srgbClr val="0369A1"/>
                </a:solidFill>
              </a:defRPr>
            </a:pPr>
            <a:r>
              <a:t>🤖 2. AI RESEARCH, LLMS &amp; API INTEGRATIONS</a:t>
            </a:r>
          </a:p>
          <a:p>
            <a:pPr>
              <a:defRPr sz="950" b="1">
                <a:solidFill>
                  <a:srgbClr val="111827"/>
                </a:solidFill>
              </a:defRPr>
            </a:pPr>
            <a:r>
              <a:t>• Google Gemini API Integration</a:t>
            </a:r>
          </a:p>
          <a:p>
            <a:pPr>
              <a:spcAft>
                <a:spcPts val="300"/>
              </a:spcAft>
              <a:defRPr sz="850">
                <a:solidFill>
                  <a:srgbClr val="374151"/>
                </a:solidFill>
              </a:defRPr>
            </a:pPr>
            <a:r>
              <a:t>   ↳ Powers our intelligent Kisan AI backend: context-aware farm advisory, vernacular query understanding &amp; intent routing.</a:t>
            </a:r>
          </a:p>
          <a:p>
            <a:pPr>
              <a:defRPr sz="950" b="1">
                <a:solidFill>
                  <a:srgbClr val="111827"/>
                </a:solidFill>
              </a:defRPr>
            </a:pPr>
            <a:r>
              <a:t>• Google Search &amp; OpenAI ChatGPT (GPT-4)</a:t>
            </a:r>
          </a:p>
          <a:p>
            <a:pPr>
              <a:spcAft>
                <a:spcPts val="300"/>
              </a:spcAft>
              <a:defRPr sz="850">
                <a:solidFill>
                  <a:srgbClr val="374151"/>
                </a:solidFill>
              </a:defRPr>
            </a:pPr>
            <a:r>
              <a:t>   ↳ Extensively utilized for agricultural literature research, APMC pricing schema exploration &amp; multi-lingual prompt engineering.</a:t>
            </a:r>
          </a:p>
          <a:p>
            <a:pPr>
              <a:defRPr sz="950" b="1">
                <a:solidFill>
                  <a:srgbClr val="111827"/>
                </a:solidFill>
              </a:defRPr>
            </a:pPr>
            <a:r>
              <a:t>• Web Speech API &amp; Vapi.ai Telephony</a:t>
            </a:r>
          </a:p>
          <a:p>
            <a:pPr>
              <a:spcAft>
                <a:spcPts val="300"/>
              </a:spcAft>
              <a:defRPr sz="850">
                <a:solidFill>
                  <a:srgbClr val="374151"/>
                </a:solidFill>
              </a:defRPr>
            </a:pPr>
            <a:r>
              <a:t>   ↳ W3C-standard Speech Recognition/Synthesis + Vapi telephony pipelines for 24x7 automated toll-free voice hotline.</a:t>
            </a:r>
          </a:p>
        </p:txBody>
      </p:sp>
      <p:sp>
        <p:nvSpPr>
          <p:cNvPr id="17413" name="Rounded Rectangle 17412"/>
          <p:cNvSpPr/>
          <p:nvPr/>
        </p:nvSpPr>
        <p:spPr>
          <a:xfrm>
            <a:off x="550000" y="3650000"/>
            <a:ext cx="5450000" cy="2100000"/>
          </a:xfrm>
          <a:prstGeom prst="roundRect">
            <a:avLst/>
          </a:prstGeom>
          <a:solidFill>
            <a:srgbClr val="FEFCE8"/>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wrap="square" lIns="150000" rIns="150000" tIns="90000" bIns="80000"/>
          <a:lstStyle/>
          <a:p>
            <a:pPr algn="ctr">
              <a:spcAft>
                <a:spcPts val="400"/>
              </a:spcAft>
              <a:defRPr sz="1200" b="1">
                <a:solidFill>
                  <a:srgbClr val="A16207"/>
                </a:solidFill>
              </a:defRPr>
            </a:pPr>
            <a:r>
              <a:t>🌐 3. LIVE PROTOTYPE &amp; CODE REPOSITORY</a:t>
            </a:r>
          </a:p>
          <a:p>
            <a:pPr>
              <a:defRPr sz="950" b="1">
                <a:solidFill>
                  <a:srgbClr val="111827"/>
                </a:solidFill>
              </a:defRPr>
            </a:pPr>
            <a:r>
              <a:t>• Live Deployed Web Application:</a:t>
            </a:r>
          </a:p>
          <a:p>
            <a:r>
              <a:rPr sz="900" b="1">
                <a:solidFill>
                  <a:srgbClr val="2563EB"/>
                </a:solidFill>
                <a:hlinkClick r:id="rId5"/>
              </a:rPr>
              <a:t>   🔗 https://diveshchinchavalkar45.github.io/Agro.sphere/</a:t>
            </a:r>
          </a:p>
          <a:p>
            <a:pPr>
              <a:spcAft>
                <a:spcPts val="200"/>
              </a:spcAft>
              <a:defRPr sz="800">
                <a:solidFill>
                  <a:srgbClr val="4B5563"/>
                </a:solidFill>
              </a:defRPr>
            </a:pPr>
            <a:r>
              <a:t>   ↳ Instant PWA: Live interactive mandi charts, harvest pooling, voice assistant &amp; GPS schedule.</a:t>
            </a:r>
          </a:p>
          <a:p>
            <a:pPr>
              <a:defRPr sz="950" b="1">
                <a:solidFill>
                  <a:srgbClr val="111827"/>
                </a:solidFill>
              </a:defRPr>
            </a:pPr>
            <a:r>
              <a:t>• Open-Source Code Repository:</a:t>
            </a:r>
          </a:p>
          <a:p>
            <a:r>
              <a:rPr sz="900" b="1">
                <a:solidFill>
                  <a:srgbClr val="2563EB"/>
                </a:solidFill>
                <a:hlinkClick r:id="rId6"/>
              </a:rPr>
              <a:t>   🔗 https://github.com/diveshchinchavalkar45/Agro.sphere</a:t>
            </a:r>
          </a:p>
          <a:p>
            <a:pPr>
              <a:spcAft>
                <a:spcPts val="200"/>
              </a:spcAft>
              <a:defRPr sz="800">
                <a:solidFill>
                  <a:srgbClr val="4B5563"/>
                </a:solidFill>
              </a:defRPr>
            </a:pPr>
            <a:r>
              <a:t>   ↳ Full open-source codebase, modular FastAPI server, SQLite schema &amp; multilingual i18n dictionaries.</a:t>
            </a:r>
          </a:p>
          <a:p>
            <a:pPr>
              <a:defRPr sz="950" b="1">
                <a:solidFill>
                  <a:srgbClr val="111827"/>
                </a:solidFill>
              </a:defRPr>
            </a:pPr>
            <a:r>
              <a:t>• 24x7 Helpline &amp; WhatsApp Demo:</a:t>
            </a:r>
          </a:p>
          <a:p>
            <a:r>
              <a:rPr sz="900" b="1">
                <a:solidFill>
                  <a:srgbClr val="2563EB"/>
                </a:solidFill>
                <a:hlinkClick r:id="rId7"/>
              </a:rPr>
              <a:t>   🔗 Toll-Free: 1800-889-2476  |  WhatsApp: +91 98200 45678</a:t>
            </a:r>
          </a:p>
          <a:p>
            <a:pPr>
              <a:spcAft>
                <a:spcPts val="200"/>
              </a:spcAft>
              <a:defRPr sz="800">
                <a:solidFill>
                  <a:srgbClr val="4B5563"/>
                </a:solidFill>
              </a:defRPr>
            </a:pPr>
            <a:r>
              <a:t>   ↳ Working multi-channel touchpoints for illiterate &amp; elderly farmers in rural areas.</a:t>
            </a:r>
          </a:p>
        </p:txBody>
      </p:sp>
      <p:sp>
        <p:nvSpPr>
          <p:cNvPr id="17414" name="Rounded Rectangle 17413"/>
          <p:cNvSpPr/>
          <p:nvPr/>
        </p:nvSpPr>
        <p:spPr>
          <a:xfrm>
            <a:off x="6200000" y="3650000"/>
            <a:ext cx="5450000" cy="2100000"/>
          </a:xfrm>
          <a:prstGeom prst="roundRect">
            <a:avLst/>
          </a:prstGeom>
          <a:solidFill>
            <a:srgbClr val="1B4D29"/>
          </a:solidFill>
          <a:ln w="25400">
            <a:solidFill>
              <a:srgbClr val="A3E635"/>
            </a:solidFill>
          </a:ln>
        </p:spPr>
        <p:style>
          <a:lnRef idx="1">
            <a:schemeClr val="accent1"/>
          </a:lnRef>
          <a:fillRef idx="3">
            <a:schemeClr val="accent1"/>
          </a:fillRef>
          <a:effectRef idx="2">
            <a:schemeClr val="accent1"/>
          </a:effectRef>
          <a:fontRef idx="minor">
            <a:schemeClr val="lt1"/>
          </a:fontRef>
        </p:style>
        <p:txBody>
          <a:bodyPr rtlCol="0" anchor="ctr" wrap="square" lIns="160000" rIns="160000" tIns="90000" bIns="80000"/>
          <a:lstStyle/>
          <a:p>
            <a:pPr algn="ctr">
              <a:spcAft>
                <a:spcPts val="200"/>
              </a:spcAft>
              <a:defRPr sz="1300" b="1">
                <a:solidFill>
                  <a:srgbClr val="FFFFFF"/>
                </a:solidFill>
              </a:defRPr>
            </a:pPr>
            <a:r>
              <a:t>🌾 THANK YOU, RESPECTED JURY &amp; EVALUATORS!</a:t>
            </a:r>
          </a:p>
          <a:p>
            <a:pPr algn="ctr">
              <a:spcAft>
                <a:spcPts val="600"/>
              </a:spcAft>
              <a:defRPr sz="1050" b="1">
                <a:solidFill>
                  <a:srgbClr val="D9F99D"/>
                </a:solidFill>
              </a:defRPr>
            </a:pPr>
            <a:r>
              <a:t>Ready for Questions &amp; Live Interactive Demonstration</a:t>
            </a:r>
          </a:p>
          <a:p>
            <a:pPr algn="ctr">
              <a:spcAft>
                <a:spcPts val="400"/>
              </a:spcAft>
              <a:defRPr sz="700">
                <a:solidFill>
                  <a:srgbClr val="A3E635"/>
                </a:solidFill>
              </a:defRPr>
            </a:pPr>
            <a:r>
              <a:t>─────────────────────────────────────────</a:t>
            </a:r>
          </a:p>
          <a:p>
            <a:pPr algn="ctr">
              <a:spcAft>
                <a:spcPts val="200"/>
              </a:spcAft>
              <a:defRPr sz="950" b="1">
                <a:solidFill>
                  <a:srgbClr val="FFFFFF"/>
                </a:solidFill>
              </a:defRPr>
            </a:pPr>
            <a:r>
              <a:t>Team: Agro-Sphere Innovators  •  Team ID: SIH2026-TEAM-AGRO</a:t>
            </a:r>
          </a:p>
          <a:p>
            <a:pPr algn="ctr">
              <a:spcAft>
                <a:spcPts val="400"/>
              </a:spcAft>
              <a:defRPr sz="900">
                <a:solidFill>
                  <a:srgbClr val="DCFCE7"/>
                </a:solidFill>
              </a:defRPr>
            </a:pPr>
            <a:r>
              <a:t>Problem Statement: SIH1645 (Smart Agriculture &amp; Farm Connect)</a:t>
            </a:r>
          </a:p>
          <a:p>
            <a:pPr algn="ctr">
              <a:defRPr sz="900" b="1">
                <a:solidFill>
                  <a:srgbClr val="FDE047"/>
                </a:solidFill>
              </a:defRPr>
            </a:pPr>
            <a:r>
              <a:t>💡 "Empowering India's Annadata with Transparent AI, Collective Scale &amp; Direct Market Access."</a:t>
            </a:r>
          </a:p>
        </p:txBody>
      </p:sp>
      <p:sp>
        <p:nvSpPr>
          <p:cNvPr id="17415" name="WebLinkBanner"/>
          <p:cNvSpPr/>
          <p:nvPr/>
        </p:nvSpPr>
        <p:spPr>
          <a:xfrm>
            <a:off x="550000" y="5850000"/>
            <a:ext cx="11100000" cy="440000"/>
          </a:xfrm>
          <a:prstGeom prst="roundRect">
            <a:avLst/>
          </a:prstGeom>
          <a:solidFill>
            <a:srgbClr val="FFFFFF"/>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50">
                <a:solidFill>
                  <a:srgbClr val="15803D"/>
                </a:solidFill>
              </a:rPr>
              <a:t>🌐 LIVE WORKING WEB PROTOTYPE: </a:t>
            </a:r>
            <a:r>
              <a:rPr b="1" sz="1200" u="sng">
                <a:solidFill>
                  <a:srgbClr val="2563EB"/>
                </a:solidFill>
                <a:hlinkClick r:id="rId5"/>
              </a:rPr>
              <a:t>https://diveshchinchavalkar45.github.io/Agro.sphere/</a:t>
            </a:r>
            <a:r>
              <a:rPr b="1" sz="1100">
                <a:solidFill>
                  <a:srgbClr val="166534"/>
                </a:solidFill>
                <a:hlinkClick r:id="rId5"/>
              </a:rPr>
              <a:t>   [ ↗ CLICK TO LAUNCH LIVE APP ]</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7495</TotalTime>
  <Words>793</Words>
  <Application>Microsoft Office PowerPoint</Application>
  <PresentationFormat>Widescreen</PresentationFormat>
  <Paragraphs>79</Paragraphs>
  <Slides>6</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ＭＳ Ｐゴシック</vt:lpstr>
      <vt:lpstr>TradeGothic</vt:lpstr>
      <vt:lpstr>Arial</vt:lpstr>
      <vt:lpstr>Calibri</vt:lpstr>
      <vt:lpstr>Garamond</vt:lpstr>
      <vt:lpstr>Times New Roman</vt:lpstr>
      <vt:lpstr>Wingdings</vt:lpstr>
      <vt:lpstr>Office Theme</vt:lpstr>
      <vt:lpstr>SMART INDIA HACKATHON 2026</vt:lpstr>
      <vt:lpstr> IDEA TITLE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Divesh Chinchavalkar</cp:lastModifiedBy>
  <cp:revision>149</cp:revision>
  <dcterms:created xsi:type="dcterms:W3CDTF">2013-12-12T18:46:50Z</dcterms:created>
  <dcterms:modified xsi:type="dcterms:W3CDTF">2026-09-02T13:16:00Z</dcterms:modified>
  <cp:category/>
</cp:coreProperties>
</file>