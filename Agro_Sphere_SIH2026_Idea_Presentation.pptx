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173A25"/>
                </a:solidFill>
              </a:rPr>
              <a:t>Problem Statement ID: </a:t>
            </a:r>
            <a:r>
              <a:rPr b="0" sz="1200">
                <a:solidFill>
                  <a:srgbClr val="2D2D2D"/>
                </a:solidFill>
              </a:rPr>
              <a:t>SIH1645 (Smart Agriculture &amp; Farm Connect)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173A25"/>
                </a:solidFill>
              </a:rPr>
              <a:t>Problem Statement Title: </a:t>
            </a:r>
            <a:r>
              <a:rPr b="0" sz="1200">
                <a:solidFill>
                  <a:srgbClr val="2D2D2D"/>
                </a:solidFill>
              </a:rPr>
              <a:t>AI Mandi Price Intelligence, Quality Grading &amp; Farm Logistics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173A25"/>
                </a:solidFill>
              </a:rPr>
              <a:t>Theme: </a:t>
            </a:r>
            <a:r>
              <a:rPr b="0" sz="1200">
                <a:solidFill>
                  <a:srgbClr val="2D2D2D"/>
                </a:solidFill>
              </a:rPr>
              <a:t>Agriculture, FoodTech &amp; Rural Development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173A25"/>
                </a:solidFill>
              </a:rPr>
              <a:t>PS Category: </a:t>
            </a:r>
            <a:r>
              <a:rPr b="0" sz="1200">
                <a:solidFill>
                  <a:srgbClr val="2D2D2D"/>
                </a:solidFill>
              </a:rPr>
              <a:t>Software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173A25"/>
                </a:solidFill>
              </a:rPr>
              <a:t>Team ID: </a:t>
            </a:r>
            <a:r>
              <a:rPr b="0" sz="1200">
                <a:solidFill>
                  <a:srgbClr val="2D2D2D"/>
                </a:solidFill>
              </a:rPr>
              <a:t>SIH2026-TEAM-AGRO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173A25"/>
                </a:solidFill>
              </a:rPr>
              <a:t>Team Name: </a:t>
            </a:r>
            <a:r>
              <a:rPr b="0" sz="1200">
                <a:solidFill>
                  <a:srgbClr val="2D2D2D"/>
                </a:solidFill>
              </a:rPr>
              <a:t>Agro-Sphere Innovators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173A25"/>
                </a:solidFill>
              </a:rPr>
              <a:t>Project / Idea: </a:t>
            </a:r>
            <a:r>
              <a:rPr b="0" sz="1200">
                <a:solidFill>
                  <a:srgbClr val="2D2D2D"/>
                </a:solidFill>
              </a:rPr>
              <a:t>Agro-Sphere (Multilingual Farmer Intelligence Platform)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173A25"/>
                </a:solidFill>
              </a:rPr>
              <a:t>GitHub Repo: </a:t>
            </a:r>
            <a:r>
              <a:rPr b="0" sz="1200">
                <a:solidFill>
                  <a:srgbClr val="2D2D2D"/>
                </a:solidFill>
              </a:rPr>
              <a:t>https://github.com/agrosphere06-ui/Agro.sphere.git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173A25"/>
                </a:solidFill>
              </a:rPr>
              <a:t>Live Web App: </a:t>
            </a:r>
            <a:r>
              <a:rPr b="0" sz="1200">
                <a:solidFill>
                  <a:srgbClr val="2D2D2D"/>
                </a:solidFill>
              </a:rPr>
              <a:t>https://agrosphere06-ui.github.io/Agro.sphere/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8" name="Picture 37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3931920"/>
            <a:ext cx="1463040" cy="7680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Aft>
                <a:spcPts val="300"/>
              </a:spcAft>
              <a:defRPr b="1" sz="1300">
                <a:solidFill>
                  <a:srgbClr val="173A25"/>
                </a:solidFill>
              </a:defRPr>
            </a:pPr>
            <a:r>
              <a:t>Agro-Sphere: Unified Farm Intelligence &amp; Direct Market Ecosystem</a:t>
            </a:r>
          </a:p>
          <a:p>
            <a:pPr>
              <a:spcAft>
                <a:spcPts val="300"/>
              </a:spcAft>
              <a:defRPr b="0" sz="1050">
                <a:solidFill>
                  <a:srgbClr val="282828"/>
                </a:solidFill>
              </a:defRPr>
            </a:pPr>
            <a:r>
              <a:t>• Transparent Mandi Discovery: Live modal rates across APMC mandis (Lasalgaon, Nashik, Pune) with predictive 7-day selling recommendations.</a:t>
            </a:r>
          </a:p>
          <a:p>
            <a:pPr>
              <a:spcAft>
                <a:spcPts val="300"/>
              </a:spcAft>
              <a:defRPr b="0" sz="1050">
                <a:solidFill>
                  <a:srgbClr val="282828"/>
                </a:solidFill>
              </a:defRPr>
            </a:pPr>
            <a:r>
              <a:t>• Verified Quality Grading &amp; Inspection: Standardized lot specs (moisture %, size 45-55mm, zero residue test, defect &lt;2%) for Grade A, B &amp; Premium produce.</a:t>
            </a:r>
          </a:p>
          <a:p>
            <a:pPr>
              <a:spcAft>
                <a:spcPts val="300"/>
              </a:spcAft>
              <a:defRPr b="0" sz="1050">
                <a:solidFill>
                  <a:srgbClr val="282828"/>
                </a:solidFill>
              </a:defRPr>
            </a:pPr>
            <a:r>
              <a:t>• Zero-Waste Fast Clearance: Emergency fast-sale channel for perishable surplus fruits/vegetables to eliminate post-harvest crop rotting.</a:t>
            </a:r>
          </a:p>
          <a:p>
            <a:pPr>
              <a:spcAft>
                <a:spcPts val="300"/>
              </a:spcAft>
              <a:defRPr b="0" sz="1050">
                <a:solidFill>
                  <a:srgbClr val="282828"/>
                </a:solidFill>
              </a:defRPr>
            </a:pPr>
            <a:r>
              <a:t>• FPO Collective Pooling: Aggregates small farmer harvests into 100q+ bulk lots to secure institutional buyer pricing &amp; reduce freight.</a:t>
            </a:r>
          </a:p>
          <a:p>
            <a:pPr>
              <a:spcAft>
                <a:spcPts val="300"/>
              </a:spcAft>
              <a:defRPr b="0" sz="1050">
                <a:solidFill>
                  <a:srgbClr val="282828"/>
                </a:solidFill>
              </a:defRPr>
            </a:pPr>
            <a:r>
              <a:t>• End-to-End Live Logistics: Real-time truck tracking (MH-15), driver contact dispatch, weighbridge slot booking, and digital calendar milestones.</a:t>
            </a:r>
          </a:p>
          <a:p>
            <a:pPr>
              <a:spcAft>
                <a:spcPts val="300"/>
              </a:spcAft>
              <a:defRPr b="0" sz="1050">
                <a:solidFill>
                  <a:srgbClr val="282828"/>
                </a:solidFill>
              </a:defRPr>
            </a:pPr>
            <a:r>
              <a:t>• Multilingual Voice AI Sahayak: Voice-operated in Hindi, Marathi &amp; English for non-literate farmers with 24x7 Toll-Free Helpline (1800-889-2476).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100" b="1"/>
            </a:pPr>
            <a:r>
              <a:t>Agro-Sphere Innovators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3" name="Picture 15362" descr="products_modal_sh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645920"/>
            <a:ext cx="2743200" cy="176536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  <a:p>
            <a:pPr>
              <a:spcAft>
                <a:spcPts val="250"/>
              </a:spcAft>
              <a:defRPr b="1" sz="1300">
                <a:solidFill>
                  <a:srgbClr val="173A25"/>
                </a:solidFill>
              </a:defRPr>
            </a:pPr>
            <a:r>
              <a:t>Technical Architecture &amp; Execution Methodology</a:t>
            </a:r>
          </a:p>
          <a:p>
            <a:pPr>
              <a:spcAft>
                <a:spcPts val="250"/>
              </a:spcAft>
              <a:defRPr b="0" sz="1050">
                <a:solidFill>
                  <a:srgbClr val="282828"/>
                </a:solidFill>
              </a:defRPr>
            </a:pPr>
            <a:r>
              <a:t>• Modern Web &amp; Mobile Stack: Responsive Glassmorphism architecture, CSS Grid/Flexbox, dynamic modular section routing.</a:t>
            </a:r>
          </a:p>
          <a:p>
            <a:pPr>
              <a:spcAft>
                <a:spcPts val="250"/>
              </a:spcAft>
              <a:defRPr b="0" sz="1050">
                <a:solidFill>
                  <a:srgbClr val="282828"/>
                </a:solidFill>
              </a:defRPr>
            </a:pPr>
            <a:r>
              <a:t>• Voice AI Engine: Web Speech API (STT &amp; TTS) + Vapi.ai Telephony Integration supporting Hindi, Marathi, and Indian English.</a:t>
            </a:r>
          </a:p>
          <a:p>
            <a:pPr>
              <a:spcAft>
                <a:spcPts val="250"/>
              </a:spcAft>
              <a:defRPr b="0" sz="1050">
                <a:solidFill>
                  <a:srgbClr val="282828"/>
                </a:solidFill>
              </a:defRPr>
            </a:pPr>
            <a:r>
              <a:t>• Logistics &amp; Scheduling Engine: Real-time route progression, live GPS coordinate simulator, and dynamic monthly milestone calendar.</a:t>
            </a:r>
          </a:p>
          <a:p>
            <a:pPr>
              <a:spcAft>
                <a:spcPts val="250"/>
              </a:spcAft>
              <a:defRPr b="0" sz="1050">
                <a:solidFill>
                  <a:srgbClr val="282828"/>
                </a:solidFill>
              </a:defRPr>
            </a:pPr>
            <a:r>
              <a:t>• Multilingual I18n System: Real-time DOM dictionary translation across 12 Indian regional languages.</a:t>
            </a:r>
          </a:p>
          <a:p>
            <a:pPr>
              <a:spcAft>
                <a:spcPts val="250"/>
              </a:spcAft>
              <a:defRPr b="0" sz="1050">
                <a:solidFill>
                  <a:srgbClr val="282828"/>
                </a:solidFill>
              </a:defRPr>
            </a:pPr>
            <a:r>
              <a:t>• Security &amp; Settlement: PIN-verified weighbridge authorization and instant ledger balance tracking.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100" b="1"/>
            </a:pPr>
            <a:r>
              <a:t>Agro-Sphere Innovators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architecture_flow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40480"/>
            <a:ext cx="4389120" cy="1755648"/>
          </a:xfrm>
          <a:prstGeom prst="rect">
            <a:avLst/>
          </a:prstGeom>
        </p:spPr>
      </p:pic>
      <p:pic>
        <p:nvPicPr>
          <p:cNvPr id="17412" name="Picture 17411" descr="schedule_sh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3840480"/>
            <a:ext cx="3566160" cy="22949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200"/>
              </a:spcAft>
              <a:defRPr b="1" sz="1300">
                <a:solidFill>
                  <a:srgbClr val="173A25"/>
                </a:solidFill>
              </a:defRPr>
            </a:pPr>
            <a:r>
              <a:t>Feasibility, Risk Analysis &amp; Mitigation Strategies</a:t>
            </a:r>
          </a:p>
          <a:p>
            <a:pPr>
              <a:spcAft>
                <a:spcPts val="200"/>
              </a:spcAft>
              <a:defRPr b="0" sz="1050">
                <a:solidFill>
                  <a:srgbClr val="282828"/>
                </a:solidFill>
              </a:defRPr>
            </a:pPr>
            <a:r>
              <a:t>• Technical Feasibility: Lightweight client architecture works on low-bandwidth 2G/3G rural networks with offline resilience.</a:t>
            </a:r>
          </a:p>
          <a:p>
            <a:pPr>
              <a:spcAft>
                <a:spcPts val="200"/>
              </a:spcAft>
              <a:defRPr b="0" sz="1050">
                <a:solidFill>
                  <a:srgbClr val="282828"/>
                </a:solidFill>
              </a:defRPr>
            </a:pPr>
            <a:r>
              <a:t>• Operational Feasibility: Multi-channel support (24x7 Toll-Free 1800-889-2476, WhatsApp Photo Grading +91 98200 45678, on-ground APMC officers).</a:t>
            </a:r>
          </a:p>
          <a:p>
            <a:pPr>
              <a:spcAft>
                <a:spcPts val="200"/>
              </a:spcAft>
              <a:defRPr b="0" sz="1050">
                <a:solidFill>
                  <a:srgbClr val="282828"/>
                </a:solidFill>
              </a:defRPr>
            </a:pPr>
            <a:r>
              <a:t>• Financial Viability: Disintermediates exploitative middlemen (saving 15-20% margin for farmers); self-sustainable via minimal 0.5% buyer transaction fee.</a:t>
            </a:r>
          </a:p>
          <a:p>
            <a:pPr>
              <a:spcAft>
                <a:spcPts val="200"/>
              </a:spcAft>
              <a:defRPr b="0" sz="1050">
                <a:solidFill>
                  <a:srgbClr val="B42828"/>
                </a:solidFill>
              </a:defRPr>
            </a:pPr>
            <a:r>
              <a:t>• Challenge: Low Digital Literacy among elderly farmers.</a:t>
            </a:r>
          </a:p>
          <a:p>
            <a:pPr>
              <a:spcAft>
                <a:spcPts val="200"/>
              </a:spcAft>
              <a:defRPr b="0" sz="1050">
                <a:solidFill>
                  <a:srgbClr val="173A25"/>
                </a:solidFill>
              </a:defRPr>
            </a:pPr>
            <a:r>
              <a:t>  ↳ Mitigation: Multilingual AI Voice Sahayak with one-touch voice chips and natural speech queries.</a:t>
            </a:r>
          </a:p>
          <a:p>
            <a:pPr>
              <a:spcAft>
                <a:spcPts val="200"/>
              </a:spcAft>
              <a:defRPr b="0" sz="1050">
                <a:solidFill>
                  <a:srgbClr val="B42828"/>
                </a:solidFill>
              </a:defRPr>
            </a:pPr>
            <a:r>
              <a:t>• Challenge: Weight &amp; Quality Disputes at Mandi Yard.</a:t>
            </a:r>
          </a:p>
          <a:p>
            <a:pPr>
              <a:spcAft>
                <a:spcPts val="200"/>
              </a:spcAft>
              <a:defRPr b="0" sz="1050">
                <a:solidFill>
                  <a:srgbClr val="173A25"/>
                </a:solidFill>
              </a:defRPr>
            </a:pPr>
            <a:r>
              <a:t>  ↳ Mitigation: Digital weighbridge PIN verification receipt and local field officer dispute desk.</a:t>
            </a:r>
          </a:p>
          <a:p>
            <a:pPr>
              <a:spcAft>
                <a:spcPts val="200"/>
              </a:spcAft>
              <a:defRPr b="0" sz="1050">
                <a:solidFill>
                  <a:srgbClr val="B42828"/>
                </a:solidFill>
              </a:defRPr>
            </a:pPr>
            <a:r>
              <a:t>• Challenge: Spoilage of Perishable Produce.</a:t>
            </a:r>
          </a:p>
          <a:p>
            <a:pPr>
              <a:spcAft>
                <a:spcPts val="200"/>
              </a:spcAft>
              <a:defRPr b="0" sz="1050">
                <a:solidFill>
                  <a:srgbClr val="173A25"/>
                </a:solidFill>
              </a:defRPr>
            </a:pPr>
            <a:r>
              <a:t>  ↳ Mitigation: Priority Zero-Waste Fast Clearance tag and instant buyer flash-sale notifications.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100" b="1"/>
            </a:pPr>
            <a:r>
              <a:t>Agro-Sphere Innovators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100" b="1"/>
            </a:pPr>
            <a:r>
              <a:t>Agro-Sphere Innovators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548640" y="1188720"/>
            <a:ext cx="5440680" cy="4983480"/>
          </a:xfrm>
          <a:prstGeom prst="roundRect">
            <a:avLst/>
          </a:prstGeom>
          <a:solidFill>
            <a:srgbClr val="F6FCF7"/>
          </a:solidFill>
          <a:ln w="19050">
            <a:solidFill>
              <a:srgbClr val="A7DB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ctr">
              <a:spcAft>
                <a:spcPts val="200"/>
              </a:spcAft>
              <a:defRPr b="1" sz="1350">
                <a:solidFill>
                  <a:srgbClr val="124026"/>
                </a:solidFill>
              </a:defRPr>
            </a:pPr>
            <a:r>
              <a:t>📈 DIRECT &amp; MEASURABLE BENEFITS</a:t>
            </a:r>
          </a:p>
          <a:p>
            <a:pPr>
              <a:spcAft>
                <a:spcPts val="800"/>
              </a:spcAft>
              <a:defRPr sz="950" i="1">
                <a:solidFill>
                  <a:srgbClr val="325F3C"/>
                </a:solidFill>
              </a:defRPr>
            </a:pPr>
            <a:r>
              <a:t>Direct financial gains &amp; operational savings delivered directly to farmers &amp; FPOs</a:t>
            </a:r>
          </a:p>
          <a:p>
            <a:pPr>
              <a:spcAft>
                <a:spcPts val="550"/>
              </a:spcAft>
            </a:pPr>
            <a:r>
              <a:rPr b="1" sz="980">
                <a:solidFill>
                  <a:srgbClr val="124026"/>
                </a:solidFill>
              </a:rPr>
              <a:t>• +18% to +25% Farmer Realized Profit: </a:t>
            </a:r>
            <a:r>
              <a:rPr b="0" sz="910">
                <a:solidFill>
                  <a:srgbClr val="2D2D2D"/>
                </a:solidFill>
              </a:rPr>
              <a:t>Disintermediates middleman cartels &amp; commission fees (saving 12%–18% margins), putting an extra ₹350–₹550 per quintal directly into farmer bank accounts.</a:t>
            </a:r>
          </a:p>
          <a:p>
            <a:pPr>
              <a:spcAft>
                <a:spcPts val="550"/>
              </a:spcAft>
            </a:pPr>
            <a:r>
              <a:rPr b="1" sz="980">
                <a:solidFill>
                  <a:srgbClr val="124026"/>
                </a:solidFill>
              </a:rPr>
              <a:t>• -30% Logistics &amp; Freight Cost Savings: </a:t>
            </a:r>
            <a:r>
              <a:rPr b="0" sz="910">
                <a:solidFill>
                  <a:srgbClr val="2D2D2D"/>
                </a:solidFill>
              </a:rPr>
              <a:t>FPO collective pooling aggregates small 10–20q harvests into 100q+ bulk truckloads, eliminating dead-freight trips with scheduled return-load dispatch.</a:t>
            </a:r>
          </a:p>
          <a:p>
            <a:pPr>
              <a:spcAft>
                <a:spcPts val="550"/>
              </a:spcAft>
            </a:pPr>
            <a:r>
              <a:rPr b="1" sz="980">
                <a:solidFill>
                  <a:srgbClr val="124026"/>
                </a:solidFill>
              </a:rPr>
              <a:t>• -35% Post-Harvest Perishable Loss: </a:t>
            </a:r>
            <a:r>
              <a:rPr b="0" sz="910">
                <a:solidFill>
                  <a:srgbClr val="2D2D2D"/>
                </a:solidFill>
              </a:rPr>
              <a:t>Emergency Zero-Waste fast-clearance channel liquidates perishable surpluses (tomatoes, onions) to bulk food processing buyers in &lt;12 hours before rotting.</a:t>
            </a:r>
          </a:p>
          <a:p>
            <a:pPr>
              <a:spcAft>
                <a:spcPts val="550"/>
              </a:spcAft>
            </a:pPr>
            <a:r>
              <a:rPr b="1" sz="980">
                <a:solidFill>
                  <a:srgbClr val="124026"/>
                </a:solidFill>
              </a:rPr>
              <a:t>• 100% Escrow Security &amp; 15-Min Payouts: </a:t>
            </a:r>
            <a:r>
              <a:rPr b="0" sz="910">
                <a:solidFill>
                  <a:srgbClr val="2D2D2D"/>
                </a:solidFill>
              </a:rPr>
              <a:t>Replaces traditional 15–30 day delayed informal credit default risks with automated bank settlement upon digital weighbridge PIN clearance.</a:t>
            </a:r>
          </a:p>
          <a:p>
            <a:pPr>
              <a:spcAft>
                <a:spcPts val="550"/>
              </a:spcAft>
            </a:pPr>
            <a:r>
              <a:rPr b="1" sz="980">
                <a:solidFill>
                  <a:srgbClr val="124026"/>
                </a:solidFill>
              </a:rPr>
              <a:t>• -85% Mandi Yard Congestion &amp; Wait Times: </a:t>
            </a:r>
            <a:r>
              <a:rPr b="0" sz="910">
                <a:solidFill>
                  <a:srgbClr val="2D2D2D"/>
                </a:solidFill>
              </a:rPr>
              <a:t>Digital gate-pass scheduling and weighbridge queue slots compress farmer waiting time from 36 hours down to under 4 hours.</a:t>
            </a:r>
          </a:p>
          <a:p>
            <a:pPr>
              <a:spcAft>
                <a:spcPts val="550"/>
              </a:spcAft>
            </a:pPr>
            <a:r>
              <a:rPr b="1" sz="980">
                <a:solidFill>
                  <a:srgbClr val="124026"/>
                </a:solidFill>
              </a:rPr>
              <a:t>• Predictive Price Discovery &amp; Selling Windows: </a:t>
            </a:r>
            <a:r>
              <a:rPr b="0" sz="910">
                <a:solidFill>
                  <a:srgbClr val="2D2D2D"/>
                </a:solidFill>
              </a:rPr>
              <a:t>Multi-mandi 30-day continuous price tracking alerts farmers to peak selling days, avoiding distress offloading during localized market crashes.</a:t>
            </a:r>
          </a:p>
          <a:p>
            <a:pPr>
              <a:spcAft>
                <a:spcPts val="0"/>
              </a:spcAft>
            </a:pPr>
            <a:r>
              <a:rPr b="1" sz="900">
                <a:solidFill>
                  <a:srgbClr val="0F5028"/>
                </a:solidFill>
              </a:rPr>
              <a:t>💡 Tangible Impact Example: A smallholder farmer selling 50 quintals of Grade A onion earns an extra ~₹22,500 net profit and saves ~₹4,200 in pooled transport costs.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172200" y="1188720"/>
            <a:ext cx="5468112" cy="2423160"/>
          </a:xfrm>
          <a:prstGeom prst="roundRect">
            <a:avLst/>
          </a:prstGeom>
          <a:solidFill>
            <a:srgbClr val="F1F7FF"/>
          </a:solidFill>
          <a:ln w="19050">
            <a:solidFill>
              <a:srgbClr val="BAD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64592" bIns="164592"/>
          <a:lstStyle/>
          <a:p>
            <a:pPr algn="ctr">
              <a:spcAft>
                <a:spcPts val="200"/>
              </a:spcAft>
              <a:defRPr b="1" sz="1250">
                <a:solidFill>
                  <a:srgbClr val="183C73"/>
                </a:solidFill>
              </a:defRPr>
            </a:pPr>
            <a:r>
              <a:t>🌍 BROADER &amp; LASTING SOCIETAL IMPACT</a:t>
            </a:r>
          </a:p>
          <a:p>
            <a:pPr>
              <a:spcAft>
                <a:spcPts val="500"/>
              </a:spcAft>
              <a:defRPr sz="900" i="1">
                <a:solidFill>
                  <a:srgbClr val="3C5F91"/>
                </a:solidFill>
              </a:defRPr>
            </a:pPr>
            <a:r>
              <a:t>Long-term systemic transformation and societal value created by accumulated benefits over time</a:t>
            </a:r>
          </a:p>
          <a:p>
            <a:pPr>
              <a:spcAft>
                <a:spcPts val="300"/>
              </a:spcAft>
            </a:pPr>
            <a:r>
              <a:rPr b="1" sz="930">
                <a:solidFill>
                  <a:srgbClr val="183C73"/>
                </a:solidFill>
              </a:rPr>
              <a:t>• Rural Poverty Alleviation &amp; De-leveraging: </a:t>
            </a:r>
            <a:r>
              <a:rPr b="0" sz="880">
                <a:solidFill>
                  <a:srgbClr val="2D2D2D"/>
                </a:solidFill>
              </a:rPr>
              <a:t>Sustained profit breaks village moneylender debt traps, fostering inter-generational farm wealth and arresting distress rural migration.</a:t>
            </a:r>
          </a:p>
          <a:p>
            <a:pPr>
              <a:spcAft>
                <a:spcPts val="300"/>
              </a:spcAft>
            </a:pPr>
            <a:r>
              <a:rPr b="1" sz="930">
                <a:solidFill>
                  <a:srgbClr val="183C73"/>
                </a:solidFill>
              </a:rPr>
              <a:t>• Smallholder &amp; FPO Institutional Leverage: </a:t>
            </a:r>
            <a:r>
              <a:rPr b="0" sz="880">
                <a:solidFill>
                  <a:srgbClr val="2D2D2D"/>
                </a:solidFill>
              </a:rPr>
              <a:t>Organizes 86% marginal farmers into bankable collective enterprises with corporate-level bargaining power.</a:t>
            </a:r>
          </a:p>
          <a:p>
            <a:pPr>
              <a:spcAft>
                <a:spcPts val="300"/>
              </a:spcAft>
            </a:pPr>
            <a:r>
              <a:rPr b="1" sz="930">
                <a:solidFill>
                  <a:srgbClr val="183C73"/>
                </a:solidFill>
              </a:rPr>
              <a:t>• National Food Security &amp; Price Stability: </a:t>
            </a:r>
            <a:r>
              <a:rPr b="0" sz="880">
                <a:solidFill>
                  <a:srgbClr val="2D2D2D"/>
                </a:solidFill>
              </a:rPr>
              <a:t>Eliminating supply friction and crop spoilage tempers urban food inflation while guaranteeing farmer floor realization.</a:t>
            </a:r>
          </a:p>
          <a:p>
            <a:pPr>
              <a:spcAft>
                <a:spcPts val="300"/>
              </a:spcAft>
            </a:pPr>
            <a:r>
              <a:rPr b="1" sz="930">
                <a:solidFill>
                  <a:srgbClr val="183C73"/>
                </a:solidFill>
              </a:rPr>
              <a:t>• Digital &amp; Financial Inclusion for Kisans: </a:t>
            </a:r>
            <a:r>
              <a:rPr b="0" sz="880">
                <a:solidFill>
                  <a:srgbClr val="2D2D2D"/>
                </a:solidFill>
              </a:rPr>
              <a:t>Multilingual Voice AI (Hindi/Marathi/English) empowers non-literate farmers with direct digital commerce &amp; UPI banking.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6172200" y="3749039"/>
            <a:ext cx="5468112" cy="2423160"/>
          </a:xfrm>
          <a:prstGeom prst="roundRect">
            <a:avLst/>
          </a:prstGeom>
          <a:solidFill>
            <a:srgbClr val="FEFCEB"/>
          </a:solidFill>
          <a:ln w="19050">
            <a:solidFill>
              <a:srgbClr val="F5D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64592" bIns="164592"/>
          <a:lstStyle/>
          <a:p>
            <a:pPr algn="ctr">
              <a:spcAft>
                <a:spcPts val="200"/>
              </a:spcAft>
              <a:defRPr b="1" sz="1250">
                <a:solidFill>
                  <a:srgbClr val="8C4B0A"/>
                </a:solidFill>
              </a:defRPr>
            </a:pPr>
            <a:r>
              <a:t>💼 HOW WE GENERATE INCOME (REVENUE MODEL)</a:t>
            </a:r>
          </a:p>
          <a:p>
            <a:pPr>
              <a:spcAft>
                <a:spcPts val="500"/>
              </a:spcAft>
              <a:defRPr sz="900" i="1">
                <a:solidFill>
                  <a:srgbClr val="875519"/>
                </a:solidFill>
              </a:defRPr>
            </a:pPr>
            <a:r>
              <a:t>100% Free for Farmers — Sustainable monetization via institutional buyers &amp; B2B ecosystem</a:t>
            </a:r>
          </a:p>
          <a:p>
            <a:pPr>
              <a:spcAft>
                <a:spcPts val="300"/>
              </a:spcAft>
            </a:pPr>
            <a:r>
              <a:rPr b="1" sz="930">
                <a:solidFill>
                  <a:srgbClr val="8C4B0A"/>
                </a:solidFill>
              </a:rPr>
              <a:t>• 0.5% – 1.0% Buyer Platform Escrow Fee: </a:t>
            </a:r>
            <a:r>
              <a:rPr b="0" sz="880">
                <a:solidFill>
                  <a:srgbClr val="2D2D2D"/>
                </a:solidFill>
              </a:rPr>
              <a:t>Charged to wholesale buyers, food processors &amp; modern retailers on settled escrow orders for digital compliance &amp; lot provenance.</a:t>
            </a:r>
          </a:p>
          <a:p>
            <a:pPr>
              <a:spcAft>
                <a:spcPts val="300"/>
              </a:spcAft>
            </a:pPr>
            <a:r>
              <a:rPr b="1" sz="930">
                <a:solidFill>
                  <a:srgbClr val="8C4B0A"/>
                </a:solidFill>
              </a:rPr>
              <a:t>• 2% – 3% Logistics Fleet Aggregation Margin: </a:t>
            </a:r>
            <a:r>
              <a:rPr b="0" sz="880">
                <a:solidFill>
                  <a:srgbClr val="2D2D2D"/>
                </a:solidFill>
              </a:rPr>
              <a:t>Commission earned from partnered logistics &amp; trucking fleet operators for guaranteed round-trip load dispatch and route optimization.</a:t>
            </a:r>
          </a:p>
          <a:p>
            <a:pPr>
              <a:spcAft>
                <a:spcPts val="300"/>
              </a:spcAft>
            </a:pPr>
            <a:r>
              <a:rPr b="1" sz="930">
                <a:solidFill>
                  <a:srgbClr val="8C4B0A"/>
                </a:solidFill>
              </a:rPr>
              <a:t>• Enterprise Market Intelligence SaaS: </a:t>
            </a:r>
            <a:r>
              <a:rPr b="0" sz="880">
                <a:solidFill>
                  <a:srgbClr val="2D2D2D"/>
                </a:solidFill>
              </a:rPr>
              <a:t>Subscription fees from FMCG brands, exporters, and agri-lenders for multi-mandi predictive price forecasting, crop yield estimates &amp; audit reports.</a:t>
            </a:r>
          </a:p>
          <a:p>
            <a:pPr>
              <a:spcAft>
                <a:spcPts val="300"/>
              </a:spcAft>
            </a:pPr>
            <a:r>
              <a:rPr b="1" sz="930">
                <a:solidFill>
                  <a:srgbClr val="8C4B0A"/>
                </a:solidFill>
              </a:rPr>
              <a:t>• Digital Weighbridge &amp; Assaying Fee: </a:t>
            </a:r>
            <a:r>
              <a:rPr b="0" sz="880">
                <a:solidFill>
                  <a:srgbClr val="2D2D2D"/>
                </a:solidFill>
              </a:rPr>
              <a:t>Nominal revenue-sharing margin with APMC yards on automated digital weighbridge slip generation and BIS/AGMARK quality verification.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300"/>
              </a:spcAft>
              <a:defRPr b="1" sz="1300">
                <a:solidFill>
                  <a:srgbClr val="173A25"/>
                </a:solidFill>
              </a:defRPr>
            </a:pPr>
            <a:r>
              <a:t>Research Grounding, Live Deployment &amp; References</a:t>
            </a:r>
          </a:p>
          <a:p>
            <a:pPr>
              <a:spcAft>
                <a:spcPts val="300"/>
              </a:spcAft>
              <a:defRPr b="1" sz="1050">
                <a:solidFill>
                  <a:srgbClr val="217346"/>
                </a:solidFill>
              </a:defRPr>
            </a:pPr>
            <a:r>
              <a:t>• Live Web Platform: https://agrosphere06-ui.github.io/Agro.sphere/</a:t>
            </a:r>
          </a:p>
          <a:p>
            <a:pPr>
              <a:spcAft>
                <a:spcPts val="300"/>
              </a:spcAft>
              <a:defRPr b="1" sz="1050">
                <a:solidFill>
                  <a:srgbClr val="1450A0"/>
                </a:solidFill>
              </a:defRPr>
            </a:pPr>
            <a:r>
              <a:t>• Official GitHub Codebase: https://github.com/agrosphere06-ui/Agro.sphere.git</a:t>
            </a:r>
          </a:p>
          <a:p>
            <a:pPr>
              <a:spcAft>
                <a:spcPts val="300"/>
              </a:spcAft>
              <a:defRPr b="0" sz="1050">
                <a:solidFill>
                  <a:srgbClr val="282828"/>
                </a:solidFill>
              </a:defRPr>
            </a:pPr>
            <a:r>
              <a:t>• Government Data Reference: Agmarknet (Directorate of Marketing &amp; Inspection, Ministry of Agriculture &amp; Farmers Welfare).</a:t>
            </a:r>
          </a:p>
          <a:p>
            <a:pPr>
              <a:spcAft>
                <a:spcPts val="300"/>
              </a:spcAft>
              <a:defRPr b="0" sz="1050">
                <a:solidFill>
                  <a:srgbClr val="282828"/>
                </a:solidFill>
              </a:defRPr>
            </a:pPr>
            <a:r>
              <a:t>• Post-Harvest Loss Research: NITI Aayog Strategy for Doubling Farmers Income &amp; Central Institute of Post-Harvest Engineering (CIPHET).</a:t>
            </a:r>
          </a:p>
          <a:p>
            <a:pPr>
              <a:spcAft>
                <a:spcPts val="300"/>
              </a:spcAft>
              <a:defRPr b="0" sz="1050">
                <a:solidFill>
                  <a:srgbClr val="282828"/>
                </a:solidFill>
              </a:defRPr>
            </a:pPr>
            <a:r>
              <a:t>• Quality &amp; Grading Standards: Bureau of Indian Standards (BIS) &amp; APEDA Export Produce Specifications for Fruits &amp; Vegetables.</a:t>
            </a:r>
          </a:p>
          <a:p>
            <a:pPr>
              <a:spcAft>
                <a:spcPts val="300"/>
              </a:spcAft>
              <a:defRPr b="0" sz="1050">
                <a:solidFill>
                  <a:srgbClr val="282828"/>
                </a:solidFill>
              </a:defRPr>
            </a:pPr>
            <a:r>
              <a:t>• Voice AI Technology: Deepgram Multilingual Speech Recognition &amp; Vapi.ai Telephony Voice Pipelines.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100" b="1"/>
            </a:pPr>
            <a:r>
              <a:t>Agro-Sphere Innovators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prices_sh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2926080"/>
            <a:ext cx="3474720" cy="2236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